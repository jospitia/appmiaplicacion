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media/image2.png" ContentType="image/png"/>
  <Override PartName="/ppt/media/image13.png" ContentType="image/png"/>
  <Override PartName="/ppt/media/image6.svg" ContentType="image/svg"/>
  <Override PartName="/ppt/media/image18.png" ContentType="image/png"/>
  <Override PartName="/ppt/media/image1.png" ContentType="image/png"/>
  <Override PartName="/ppt/media/image3.png" ContentType="image/png"/>
  <Override PartName="/ppt/media/image8.svg" ContentType="image/svg"/>
  <Override PartName="/ppt/media/image7.png" ContentType="image/png"/>
  <Override PartName="/ppt/media/image11.png" ContentType="image/png"/>
  <Override PartName="/ppt/media/image16.png" ContentType="image/png"/>
  <Override PartName="/ppt/media/image4.svg" ContentType="image/svg"/>
  <Override PartName="/ppt/media/image17.svg" ContentType="image/svg"/>
  <Override PartName="/ppt/media/image5.png" ContentType="image/png"/>
  <Override PartName="/ppt/media/image20.png" ContentType="image/png"/>
  <Override PartName="/ppt/media/image10.svg" ContentType="image/svg"/>
  <Override PartName="/ppt/media/image9.png" ContentType="image/png"/>
  <Override PartName="/ppt/media/image12.svg" ContentType="image/svg"/>
  <Override PartName="/ppt/media/image14.png" ContentType="image/png"/>
  <Override PartName="/ppt/media/image23.png" ContentType="image/png"/>
  <Override PartName="/ppt/media/image15.svg" ContentType="image/svg"/>
  <Override PartName="/ppt/media/image25.png" ContentType="image/png"/>
  <Override PartName="/ppt/media/image35.svg" ContentType="image/svg"/>
  <Override PartName="/ppt/media/image27.png" ContentType="image/png"/>
  <Override PartName="/ppt/media/image19.svg" ContentType="image/svg"/>
  <Override PartName="/ppt/media/image21.png" ContentType="image/png"/>
  <Override PartName="/ppt/media/image22.svg" ContentType="image/svg"/>
  <Override PartName="/ppt/media/image30.png" ContentType="image/png"/>
  <Override PartName="/ppt/media/image32.png" ContentType="image/png"/>
  <Override PartName="/ppt/media/image24.svg" ContentType="image/svg"/>
  <Override PartName="/ppt/media/image26.svg" ContentType="image/svg"/>
  <Override PartName="/ppt/media/image34.png" ContentType="image/png"/>
  <Override PartName="/ppt/media/image28.png" ContentType="image/png"/>
  <Override PartName="/ppt/media/image29.png" ContentType="image/png"/>
  <Override PartName="/ppt/media/image31.png" ContentType="image/png"/>
  <Override PartName="/ppt/media/image33.png" ContentType="image/png"/>
  <Override PartName="/ppt/media/image36.png" ContentType="image/png"/>
  <Override PartName="/ppt/media/image37.png" ContentType="image/png"/>
  <Override PartName="/ppt/media/image38.png" ContentType="image/png"/>
  <Override PartName="/ppt/slideMasters/slideMaster1.xml" ContentType="application/vnd.openxmlformats-officedocument.presentationml.slideMaster+xml"/>
  <Override PartName="/ppt/slideMasters/_rels/slideMaster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fonts/Font_1_Tomorrow_Regular.fntdata" ContentType="application/x-fontdata"/>
  <Override PartName="/ppt/fonts/Font_2_Calibri_Light_Regular.fntdata" ContentType="application/x-fontdata"/>
  <Override PartName="/ppt/fonts/Font_3_Microsoft_YaHei_Regular.fntdata" ContentType="application/x-fontdata"/>
  <Override PartName="/ppt/fonts/Font_4_Lucida_Sans_Regular.fntdata" ContentType="application/x-fontdata"/>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Tomorrow Semi Bold"/>
    </p:embeddedFont>
    <p:embeddedFont>
      <p:font typeface="Tomorrow"/>
      <p:regular r:id="rId14"/>
      <p:bold r:id="rId14"/>
    </p:embeddedFont>
    <p:embeddedFont>
      <p:font typeface="Calibri Light"/>
      <p:regular r:id="rId15"/>
    </p:embeddedFont>
    <p:embeddedFont>
      <p:font typeface="Tomorrow Light"/>
    </p:embeddedFont>
    <p:embeddedFont>
      <p:font typeface="Microsoft YaHei"/>
      <p:regular r:id="rId16"/>
    </p:embeddedFont>
    <p:embeddedFont>
      <p:font typeface="Lucida Sans"/>
      <p:regular r:id="rId17"/>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font" Target="fonts/Font_1_Tomorrow_Regular.fntdata"/><Relationship Id="rId15" Type="http://schemas.openxmlformats.org/officeDocument/2006/relationships/font" Target="fonts/Font_2_Calibri_Light_Regular.fntdata"/><Relationship Id="rId16" Type="http://schemas.openxmlformats.org/officeDocument/2006/relationships/font" Target="fonts/Font_3_Microsoft_YaHei_Regular.fntdata"/><Relationship Id="rId17" Type="http://schemas.openxmlformats.org/officeDocument/2006/relationships/font" Target="fonts/Font_4_Lucida_Sans_Regular.fntdata"/><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chemeClr val="dk1"/>
                </a:solidFill>
                <a:effectLst/>
                <a:uFillTx/>
                <a:latin typeface="Calibri Light"/>
              </a:rPr>
              <a:t>Click to move the slide</a:t>
            </a:r>
            <a:endParaRPr b="0" lang="en-US" sz="4400" strike="noStrike" u="none">
              <a:solidFill>
                <a:schemeClr val="dk1"/>
              </a:solidFill>
              <a:effectLst/>
              <a:uFillTx/>
              <a:latin typeface="Calibri Light"/>
            </a:endParaRPr>
          </a:p>
        </p:txBody>
      </p:sp>
      <p:sp>
        <p:nvSpPr>
          <p:cNvPr id="5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5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53"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54"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5"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E1E67B16-7572-4363-BDCC-DD48795038A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F12F630-7209-439C-8DD8-74FCC6977B3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685800" y="1143000"/>
            <a:ext cx="5486040" cy="3085920"/>
          </a:xfrm>
          <a:prstGeom prst="rect">
            <a:avLst/>
          </a:prstGeom>
          <a:ln w="0">
            <a:noFill/>
          </a:ln>
        </p:spPr>
      </p:sp>
      <p:sp>
        <p:nvSpPr>
          <p:cNvPr id="2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5414829-223A-47CD-898E-D543D0FDCB3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8BE6253-B710-4AAD-B760-5AD7F0E2E4A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8078CB3-9FA0-4E70-BF56-B53C34ADDAB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DD48317-CA44-4942-8A6D-0BE536A1AD8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B4F83B3A-EBFB-4878-AD15-C99A69F6F50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61244B1-4532-4DB5-81FD-2D21C7F1BD7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4"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B078CBC-9D33-49A9-9B54-246B8FA51604}"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7"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3302447-E053-437C-8895-E92DCB75624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2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0C752F4-4EB5-45F5-93B3-B89296F13D1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
        <p:nvSpPr>
          <p:cNvPr id="2"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6"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
        <p:nvSpPr>
          <p:cNvPr id="7"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12839040" y="7749720"/>
            <a:ext cx="1722240" cy="41112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
        <p:nvSpPr>
          <p:cNvPr id="1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1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
        <p:nvSpPr>
          <p:cNvPr id="1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
        <p:nvSpPr>
          <p:cNvPr id="2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2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2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
        <p:nvSpPr>
          <p:cNvPr id="2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2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
        <p:nvSpPr>
          <p:cNvPr id="3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3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3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
        <p:nvSpPr>
          <p:cNvPr id="3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3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
        <p:nvSpPr>
          <p:cNvPr id="4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4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4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
        <p:nvSpPr>
          <p:cNvPr id="4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4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slideLayout" Target="../slideLayouts/slideLayout5.xml"/><Relationship Id="rId10"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slideLayout" Target="../slideLayouts/slideLayout6.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13.png"/><Relationship Id="rId8" Type="http://schemas.openxmlformats.org/officeDocument/2006/relationships/slideLayout" Target="../slideLayouts/slideLayout7.xml"/><Relationship Id="rId9"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image" Target="../media/image13.png"/><Relationship Id="rId9" Type="http://schemas.openxmlformats.org/officeDocument/2006/relationships/slideLayout" Target="../slideLayouts/slideLayout8.xml"/><Relationship Id="rId10"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slideLayout" Target="../slideLayouts/slideLayout9.xml"/><Relationship Id="rId8"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slideLayout" Target="../slideLayouts/slideLayout10.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36.png"/><Relationship Id="rId5" Type="http://schemas.openxmlformats.org/officeDocument/2006/relationships/image" Target="../media/image36.png"/><Relationship Id="rId6" Type="http://schemas.openxmlformats.org/officeDocument/2006/relationships/image" Target="../media/image38.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Image 0" descr="preencoded.png"/>
          <p:cNvPicPr/>
          <p:nvPr/>
        </p:nvPicPr>
        <p:blipFill>
          <a:blip r:embed="rId1"/>
          <a:stretch/>
        </p:blipFill>
        <p:spPr>
          <a:xfrm>
            <a:off x="9144000" y="0"/>
            <a:ext cx="5486040" cy="8229240"/>
          </a:xfrm>
          <a:prstGeom prst="rect">
            <a:avLst/>
          </a:prstGeom>
          <a:noFill/>
          <a:ln w="0">
            <a:noFill/>
          </a:ln>
        </p:spPr>
      </p:pic>
      <p:sp>
        <p:nvSpPr>
          <p:cNvPr id="57" name="Text 0"/>
          <p:cNvSpPr/>
          <p:nvPr/>
        </p:nvSpPr>
        <p:spPr>
          <a:xfrm>
            <a:off x="793800" y="2552040"/>
            <a:ext cx="7556040" cy="1239840"/>
          </a:xfrm>
          <a:prstGeom prst="rect">
            <a:avLst/>
          </a:prstGeom>
          <a:noFill/>
          <a:ln w="0">
            <a:noFill/>
          </a:ln>
        </p:spPr>
        <p:style>
          <a:lnRef idx="0"/>
          <a:fillRef idx="0"/>
          <a:effectRef idx="0"/>
          <a:fontRef idx="minor"/>
        </p:style>
        <p:txBody>
          <a:bodyPr lIns="0" rIns="0" tIns="0" bIns="0" anchor="t">
            <a:noAutofit/>
          </a:bodyPr>
          <a:p>
            <a:pPr>
              <a:lnSpc>
                <a:spcPts val="4850"/>
              </a:lnSpc>
              <a:tabLst>
                <a:tab algn="l" pos="0"/>
              </a:tabLst>
            </a:pPr>
            <a:r>
              <a:rPr b="0" lang="en-US" sz="3900" strike="noStrike" u="none">
                <a:solidFill>
                  <a:srgbClr val="1d1d1b"/>
                </a:solidFill>
                <a:effectLst/>
                <a:uFillTx/>
                <a:latin typeface="Tomorrow Semi Bold"/>
                <a:ea typeface="Tomorrow Semi Bold"/>
              </a:rPr>
              <a:t>Manual de Autogestión de Usuarios y Roles</a:t>
            </a:r>
            <a:endParaRPr b="0" lang="en-US" sz="3900" strike="noStrike" u="none">
              <a:solidFill>
                <a:srgbClr val="000000"/>
              </a:solidFill>
              <a:effectLst/>
              <a:uFillTx/>
              <a:latin typeface="Arial"/>
            </a:endParaRPr>
          </a:p>
        </p:txBody>
      </p:sp>
      <p:sp>
        <p:nvSpPr>
          <p:cNvPr id="58" name="Text 1"/>
          <p:cNvSpPr/>
          <p:nvPr/>
        </p:nvSpPr>
        <p:spPr>
          <a:xfrm>
            <a:off x="793800" y="4089960"/>
            <a:ext cx="7556040" cy="15872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Gestione su equipo de forma completamente autónoma: cree usuarios, asigne permisos, configure roles personalizados y mantenga la seguridad de su organización sin depender de soporte técnico. Este manual le proporcionará todas las herramientas y conocimientos necesarios para administrar accesos de manera profesional y segura.</a:t>
            </a:r>
            <a:endParaRPr b="0" lang="en-US" sz="15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Shape 0"/>
          <p:cNvSpPr/>
          <p:nvPr/>
        </p:nvSpPr>
        <p:spPr>
          <a:xfrm>
            <a:off x="793800" y="646560"/>
            <a:ext cx="1486080" cy="372960"/>
          </a:xfrm>
          <a:prstGeom prst="roundRect">
            <a:avLst>
              <a:gd name="adj" fmla="val 6383"/>
            </a:avLst>
          </a:prstGeom>
          <a:solidFill>
            <a:srgbClr val="e6e6e5"/>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 name="Text 1"/>
          <p:cNvSpPr/>
          <p:nvPr/>
        </p:nvSpPr>
        <p:spPr>
          <a:xfrm>
            <a:off x="912960" y="706320"/>
            <a:ext cx="1247760" cy="25380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250" strike="noStrike" u="none">
                <a:solidFill>
                  <a:srgbClr val="61615c"/>
                </a:solidFill>
                <a:effectLst/>
                <a:uFillTx/>
                <a:latin typeface="Tomorrow"/>
                <a:ea typeface="Tomorrow"/>
              </a:rPr>
              <a:t>GUÍA COMPLETA</a:t>
            </a:r>
            <a:endParaRPr b="0" lang="en-US" sz="1250" strike="noStrike" u="none">
              <a:solidFill>
                <a:srgbClr val="000000"/>
              </a:solidFill>
              <a:effectLst/>
              <a:uFillTx/>
              <a:latin typeface="Arial"/>
            </a:endParaRPr>
          </a:p>
        </p:txBody>
      </p:sp>
      <p:sp>
        <p:nvSpPr>
          <p:cNvPr id="61" name="Text 2"/>
          <p:cNvSpPr/>
          <p:nvPr/>
        </p:nvSpPr>
        <p:spPr>
          <a:xfrm>
            <a:off x="793800" y="1099080"/>
            <a:ext cx="7220520" cy="619560"/>
          </a:xfrm>
          <a:prstGeom prst="rect">
            <a:avLst/>
          </a:prstGeom>
          <a:noFill/>
          <a:ln w="0">
            <a:noFill/>
          </a:ln>
        </p:spPr>
        <p:style>
          <a:lnRef idx="0"/>
          <a:fillRef idx="0"/>
          <a:effectRef idx="0"/>
          <a:fontRef idx="minor"/>
        </p:style>
        <p:txBody>
          <a:bodyPr wrap="none" lIns="0" rIns="0" tIns="0" bIns="0" anchor="t">
            <a:noAutofit/>
          </a:bodyPr>
          <a:p>
            <a:pPr>
              <a:lnSpc>
                <a:spcPts val="4850"/>
              </a:lnSpc>
              <a:tabLst>
                <a:tab algn="l" pos="0"/>
              </a:tabLst>
            </a:pPr>
            <a:r>
              <a:rPr b="0" lang="en-US" sz="3900" strike="noStrike" u="none">
                <a:solidFill>
                  <a:srgbClr val="1d1d1b"/>
                </a:solidFill>
                <a:effectLst/>
                <a:uFillTx/>
                <a:latin typeface="Tomorrow Semi Bold"/>
                <a:ea typeface="Tomorrow Semi Bold"/>
              </a:rPr>
              <a:t>¿Para quién es este manual?</a:t>
            </a:r>
            <a:endParaRPr b="0" lang="en-US" sz="3900" strike="noStrike" u="none">
              <a:solidFill>
                <a:srgbClr val="000000"/>
              </a:solidFill>
              <a:effectLst/>
              <a:uFillTx/>
              <a:latin typeface="Arial"/>
            </a:endParaRPr>
          </a:p>
        </p:txBody>
      </p:sp>
      <p:sp>
        <p:nvSpPr>
          <p:cNvPr id="62" name="Shape 3"/>
          <p:cNvSpPr/>
          <p:nvPr/>
        </p:nvSpPr>
        <p:spPr>
          <a:xfrm>
            <a:off x="793800" y="2016720"/>
            <a:ext cx="6422040" cy="2254320"/>
          </a:xfrm>
          <a:prstGeom prst="roundRect">
            <a:avLst>
              <a:gd name="adj" fmla="val 132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 name="Shape 4"/>
          <p:cNvSpPr/>
          <p:nvPr/>
        </p:nvSpPr>
        <p:spPr>
          <a:xfrm>
            <a:off x="992160" y="2215080"/>
            <a:ext cx="595080" cy="595080"/>
          </a:xfrm>
          <a:prstGeom prst="roundRect">
            <a:avLst>
              <a:gd name="adj" fmla="val 15358451"/>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64" name="Image 0" descr="preencoded.png"/>
          <p:cNvPicPr/>
          <p:nvPr/>
        </p:nvPicPr>
        <p:blipFill>
          <a:blip r:embed="rId1">
            <a:extLst>
              <a:ext uri="{96DAC541-7B7A-43D3-8B79-37D633B846F1}">
                <asvg:svgBlip xmlns:asvg="http://schemas.microsoft.com/office/drawing/2016/SVG/main" r:embed="rId2"/>
              </a:ext>
            </a:extLst>
          </a:blip>
          <a:stretch/>
        </p:blipFill>
        <p:spPr>
          <a:xfrm>
            <a:off x="1155960" y="2378880"/>
            <a:ext cx="267480" cy="267480"/>
          </a:xfrm>
          <a:prstGeom prst="rect">
            <a:avLst/>
          </a:prstGeom>
          <a:noFill/>
          <a:ln w="0">
            <a:noFill/>
          </a:ln>
        </p:spPr>
      </p:pic>
      <p:sp>
        <p:nvSpPr>
          <p:cNvPr id="65" name="Text 5"/>
          <p:cNvSpPr/>
          <p:nvPr/>
        </p:nvSpPr>
        <p:spPr>
          <a:xfrm>
            <a:off x="992160" y="3008880"/>
            <a:ext cx="368496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Administradores de Empresa</a:t>
            </a:r>
            <a:endParaRPr b="0" lang="en-US" sz="1950" strike="noStrike" u="none">
              <a:solidFill>
                <a:srgbClr val="000000"/>
              </a:solidFill>
              <a:effectLst/>
              <a:uFillTx/>
              <a:latin typeface="Arial"/>
            </a:endParaRPr>
          </a:p>
        </p:txBody>
      </p:sp>
      <p:sp>
        <p:nvSpPr>
          <p:cNvPr id="66" name="Text 6"/>
          <p:cNvSpPr/>
          <p:nvPr/>
        </p:nvSpPr>
        <p:spPr>
          <a:xfrm>
            <a:off x="992160" y="3438000"/>
            <a:ext cx="6025320" cy="63468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Control total sobre la gestión de accesos y permisos en su organización.</a:t>
            </a:r>
            <a:endParaRPr b="0" lang="en-US" sz="1550" strike="noStrike" u="none">
              <a:solidFill>
                <a:srgbClr val="000000"/>
              </a:solidFill>
              <a:effectLst/>
              <a:uFillTx/>
              <a:latin typeface="Arial"/>
            </a:endParaRPr>
          </a:p>
        </p:txBody>
      </p:sp>
      <p:sp>
        <p:nvSpPr>
          <p:cNvPr id="67" name="Shape 7"/>
          <p:cNvSpPr/>
          <p:nvPr/>
        </p:nvSpPr>
        <p:spPr>
          <a:xfrm>
            <a:off x="7414200" y="2016720"/>
            <a:ext cx="6422040" cy="2254320"/>
          </a:xfrm>
          <a:prstGeom prst="roundRect">
            <a:avLst>
              <a:gd name="adj" fmla="val 132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 name="Shape 8"/>
          <p:cNvSpPr/>
          <p:nvPr/>
        </p:nvSpPr>
        <p:spPr>
          <a:xfrm>
            <a:off x="7612560" y="2215080"/>
            <a:ext cx="595080" cy="595080"/>
          </a:xfrm>
          <a:prstGeom prst="roundRect">
            <a:avLst>
              <a:gd name="adj" fmla="val 15358451"/>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69" name="Image 1" descr="preencoded.png"/>
          <p:cNvPicPr/>
          <p:nvPr/>
        </p:nvPicPr>
        <p:blipFill>
          <a:blip r:embed="rId3">
            <a:extLst>
              <a:ext uri="{96DAC541-7B7A-43D3-8B79-37D633B846F1}">
                <asvg:svgBlip xmlns:asvg="http://schemas.microsoft.com/office/drawing/2016/SVG/main" r:embed="rId4"/>
              </a:ext>
            </a:extLst>
          </a:blip>
          <a:stretch/>
        </p:blipFill>
        <p:spPr>
          <a:xfrm>
            <a:off x="7776360" y="2378880"/>
            <a:ext cx="267480" cy="267480"/>
          </a:xfrm>
          <a:prstGeom prst="rect">
            <a:avLst/>
          </a:prstGeom>
          <a:noFill/>
          <a:ln w="0">
            <a:noFill/>
          </a:ln>
        </p:spPr>
      </p:pic>
      <p:sp>
        <p:nvSpPr>
          <p:cNvPr id="70" name="Text 9"/>
          <p:cNvSpPr/>
          <p:nvPr/>
        </p:nvSpPr>
        <p:spPr>
          <a:xfrm>
            <a:off x="7612560" y="3008880"/>
            <a:ext cx="248040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Gerentes de RRHH</a:t>
            </a:r>
            <a:endParaRPr b="0" lang="en-US" sz="1950" strike="noStrike" u="none">
              <a:solidFill>
                <a:srgbClr val="000000"/>
              </a:solidFill>
              <a:effectLst/>
              <a:uFillTx/>
              <a:latin typeface="Arial"/>
            </a:endParaRPr>
          </a:p>
        </p:txBody>
      </p:sp>
      <p:sp>
        <p:nvSpPr>
          <p:cNvPr id="71" name="Text 10"/>
          <p:cNvSpPr/>
          <p:nvPr/>
        </p:nvSpPr>
        <p:spPr>
          <a:xfrm>
            <a:off x="7612560" y="3438000"/>
            <a:ext cx="6025320" cy="63468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Gestión ágil del personal, desde contratación hasta cambios de departamento.</a:t>
            </a:r>
            <a:endParaRPr b="0" lang="en-US" sz="1550" strike="noStrike" u="none">
              <a:solidFill>
                <a:srgbClr val="000000"/>
              </a:solidFill>
              <a:effectLst/>
              <a:uFillTx/>
              <a:latin typeface="Arial"/>
            </a:endParaRPr>
          </a:p>
        </p:txBody>
      </p:sp>
      <p:sp>
        <p:nvSpPr>
          <p:cNvPr id="72" name="Shape 11"/>
          <p:cNvSpPr/>
          <p:nvPr/>
        </p:nvSpPr>
        <p:spPr>
          <a:xfrm>
            <a:off x="793800" y="4469760"/>
            <a:ext cx="6422040" cy="2254320"/>
          </a:xfrm>
          <a:prstGeom prst="roundRect">
            <a:avLst>
              <a:gd name="adj" fmla="val 132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3" name="Shape 12"/>
          <p:cNvSpPr/>
          <p:nvPr/>
        </p:nvSpPr>
        <p:spPr>
          <a:xfrm>
            <a:off x="992160" y="4668120"/>
            <a:ext cx="595080" cy="595080"/>
          </a:xfrm>
          <a:prstGeom prst="roundRect">
            <a:avLst>
              <a:gd name="adj" fmla="val 15358451"/>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74" name="Image 2" descr="preencoded.png"/>
          <p:cNvPicPr/>
          <p:nvPr/>
        </p:nvPicPr>
        <p:blipFill>
          <a:blip r:embed="rId5">
            <a:extLst>
              <a:ext uri="{96DAC541-7B7A-43D3-8B79-37D633B846F1}">
                <asvg:svgBlip xmlns:asvg="http://schemas.microsoft.com/office/drawing/2016/SVG/main" r:embed="rId6"/>
              </a:ext>
            </a:extLst>
          </a:blip>
          <a:stretch/>
        </p:blipFill>
        <p:spPr>
          <a:xfrm>
            <a:off x="1155960" y="4831920"/>
            <a:ext cx="267480" cy="267480"/>
          </a:xfrm>
          <a:prstGeom prst="rect">
            <a:avLst/>
          </a:prstGeom>
          <a:noFill/>
          <a:ln w="0">
            <a:noFill/>
          </a:ln>
        </p:spPr>
      </p:pic>
      <p:sp>
        <p:nvSpPr>
          <p:cNvPr id="75" name="Text 13"/>
          <p:cNvSpPr/>
          <p:nvPr/>
        </p:nvSpPr>
        <p:spPr>
          <a:xfrm>
            <a:off x="992160" y="5461920"/>
            <a:ext cx="253656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Coordinadores de TI</a:t>
            </a:r>
            <a:endParaRPr b="0" lang="en-US" sz="1950" strike="noStrike" u="none">
              <a:solidFill>
                <a:srgbClr val="000000"/>
              </a:solidFill>
              <a:effectLst/>
              <a:uFillTx/>
              <a:latin typeface="Arial"/>
            </a:endParaRPr>
          </a:p>
        </p:txBody>
      </p:sp>
      <p:sp>
        <p:nvSpPr>
          <p:cNvPr id="76" name="Text 14"/>
          <p:cNvSpPr/>
          <p:nvPr/>
        </p:nvSpPr>
        <p:spPr>
          <a:xfrm>
            <a:off x="992160" y="5891040"/>
            <a:ext cx="6025320" cy="63468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Administración técnica de usuarios, roles y seguridad del sistema.</a:t>
            </a:r>
            <a:endParaRPr b="0" lang="en-US" sz="1550" strike="noStrike" u="none">
              <a:solidFill>
                <a:srgbClr val="000000"/>
              </a:solidFill>
              <a:effectLst/>
              <a:uFillTx/>
              <a:latin typeface="Arial"/>
            </a:endParaRPr>
          </a:p>
        </p:txBody>
      </p:sp>
      <p:sp>
        <p:nvSpPr>
          <p:cNvPr id="77" name="Shape 15"/>
          <p:cNvSpPr/>
          <p:nvPr/>
        </p:nvSpPr>
        <p:spPr>
          <a:xfrm>
            <a:off x="7414200" y="4469760"/>
            <a:ext cx="6422040" cy="2254320"/>
          </a:xfrm>
          <a:prstGeom prst="roundRect">
            <a:avLst>
              <a:gd name="adj" fmla="val 132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 name="Shape 16"/>
          <p:cNvSpPr/>
          <p:nvPr/>
        </p:nvSpPr>
        <p:spPr>
          <a:xfrm>
            <a:off x="7612560" y="4668120"/>
            <a:ext cx="595080" cy="595080"/>
          </a:xfrm>
          <a:prstGeom prst="roundRect">
            <a:avLst>
              <a:gd name="adj" fmla="val 15358451"/>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79" name="Image 3" descr="preencoded.png"/>
          <p:cNvPicPr/>
          <p:nvPr/>
        </p:nvPicPr>
        <p:blipFill>
          <a:blip r:embed="rId7">
            <a:extLst>
              <a:ext uri="{96DAC541-7B7A-43D3-8B79-37D633B846F1}">
                <asvg:svgBlip xmlns:asvg="http://schemas.microsoft.com/office/drawing/2016/SVG/main" r:embed="rId8"/>
              </a:ext>
            </a:extLst>
          </a:blip>
          <a:stretch/>
        </p:blipFill>
        <p:spPr>
          <a:xfrm>
            <a:off x="7776360" y="4831920"/>
            <a:ext cx="267480" cy="267480"/>
          </a:xfrm>
          <a:prstGeom prst="rect">
            <a:avLst/>
          </a:prstGeom>
          <a:noFill/>
          <a:ln w="0">
            <a:noFill/>
          </a:ln>
        </p:spPr>
      </p:pic>
      <p:sp>
        <p:nvSpPr>
          <p:cNvPr id="80" name="Text 17"/>
          <p:cNvSpPr/>
          <p:nvPr/>
        </p:nvSpPr>
        <p:spPr>
          <a:xfrm>
            <a:off x="7612560" y="5461920"/>
            <a:ext cx="290844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Usuarios con Permisos</a:t>
            </a:r>
            <a:endParaRPr b="0" lang="en-US" sz="1950" strike="noStrike" u="none">
              <a:solidFill>
                <a:srgbClr val="000000"/>
              </a:solidFill>
              <a:effectLst/>
              <a:uFillTx/>
              <a:latin typeface="Arial"/>
            </a:endParaRPr>
          </a:p>
        </p:txBody>
      </p:sp>
      <p:sp>
        <p:nvSpPr>
          <p:cNvPr id="81" name="Text 18"/>
          <p:cNvSpPr/>
          <p:nvPr/>
        </p:nvSpPr>
        <p:spPr>
          <a:xfrm>
            <a:off x="7612560" y="5891040"/>
            <a:ext cx="6025320" cy="63468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Cualquier colaborador autorizado para gestionar personal en su área.</a:t>
            </a:r>
            <a:endParaRPr b="0" lang="en-US" sz="1550" strike="noStrike" u="none">
              <a:solidFill>
                <a:srgbClr val="000000"/>
              </a:solidFill>
              <a:effectLst/>
              <a:uFillTx/>
              <a:latin typeface="Arial"/>
            </a:endParaRPr>
          </a:p>
        </p:txBody>
      </p:sp>
      <p:sp>
        <p:nvSpPr>
          <p:cNvPr id="82" name="Text 19"/>
          <p:cNvSpPr/>
          <p:nvPr/>
        </p:nvSpPr>
        <p:spPr>
          <a:xfrm>
            <a:off x="793800" y="6947640"/>
            <a:ext cx="13042440" cy="63468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Este manual está diseñado para empoderar a su equipo administrativo con autonomía total en la gestión de accesos, eliminando dependencias de soporte técnico y optimizando tiempos de respuesta.</a:t>
            </a:r>
            <a:endParaRPr b="0" lang="en-US" sz="15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Shape 0"/>
          <p:cNvSpPr/>
          <p:nvPr/>
        </p:nvSpPr>
        <p:spPr>
          <a:xfrm>
            <a:off x="793800" y="849240"/>
            <a:ext cx="1404000" cy="388080"/>
          </a:xfrm>
          <a:prstGeom prst="roundRect">
            <a:avLst>
              <a:gd name="adj" fmla="val 6132"/>
            </a:avLst>
          </a:prstGeom>
          <a:noFill/>
          <a:ln w="7620">
            <a:solidFill>
              <a:srgbClr val="1d1d1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84" name="Image 0" descr="preencoded.png"/>
          <p:cNvPicPr/>
          <p:nvPr/>
        </p:nvPicPr>
        <p:blipFill>
          <a:blip r:embed="rId1">
            <a:extLst>
              <a:ext uri="{96DAC541-7B7A-43D3-8B79-37D633B846F1}">
                <asvg:svgBlip xmlns:asvg="http://schemas.microsoft.com/office/drawing/2016/SVG/main" r:embed="rId2"/>
              </a:ext>
            </a:extLst>
          </a:blip>
          <a:stretch/>
        </p:blipFill>
        <p:spPr>
          <a:xfrm>
            <a:off x="920520" y="964080"/>
            <a:ext cx="158400" cy="158400"/>
          </a:xfrm>
          <a:prstGeom prst="rect">
            <a:avLst/>
          </a:prstGeom>
          <a:noFill/>
          <a:ln w="0">
            <a:noFill/>
          </a:ln>
        </p:spPr>
      </p:pic>
      <p:sp>
        <p:nvSpPr>
          <p:cNvPr id="85" name="Text 1"/>
          <p:cNvSpPr/>
          <p:nvPr/>
        </p:nvSpPr>
        <p:spPr>
          <a:xfrm>
            <a:off x="1158480" y="916560"/>
            <a:ext cx="912600" cy="25380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250" strike="noStrike" u="none">
                <a:solidFill>
                  <a:srgbClr val="1d1d1b"/>
                </a:solidFill>
                <a:effectLst/>
                <a:uFillTx/>
                <a:latin typeface="Tomorrow"/>
                <a:ea typeface="Tomorrow"/>
              </a:rPr>
              <a:t>CONTENIDO</a:t>
            </a:r>
            <a:endParaRPr b="0" lang="en-US" sz="1250" strike="noStrike" u="none">
              <a:solidFill>
                <a:srgbClr val="000000"/>
              </a:solidFill>
              <a:effectLst/>
              <a:uFillTx/>
              <a:latin typeface="Arial"/>
            </a:endParaRPr>
          </a:p>
        </p:txBody>
      </p:sp>
      <p:sp>
        <p:nvSpPr>
          <p:cNvPr id="86" name="Text 2"/>
          <p:cNvSpPr/>
          <p:nvPr/>
        </p:nvSpPr>
        <p:spPr>
          <a:xfrm>
            <a:off x="793800" y="1316880"/>
            <a:ext cx="5503320" cy="619560"/>
          </a:xfrm>
          <a:prstGeom prst="rect">
            <a:avLst/>
          </a:prstGeom>
          <a:noFill/>
          <a:ln w="0">
            <a:noFill/>
          </a:ln>
        </p:spPr>
        <p:style>
          <a:lnRef idx="0"/>
          <a:fillRef idx="0"/>
          <a:effectRef idx="0"/>
          <a:fontRef idx="minor"/>
        </p:style>
        <p:txBody>
          <a:bodyPr wrap="none" lIns="0" rIns="0" tIns="0" bIns="0" anchor="t">
            <a:noAutofit/>
          </a:bodyPr>
          <a:p>
            <a:pPr>
              <a:lnSpc>
                <a:spcPts val="4850"/>
              </a:lnSpc>
              <a:tabLst>
                <a:tab algn="l" pos="0"/>
              </a:tabLst>
            </a:pPr>
            <a:r>
              <a:rPr b="0" lang="en-US" sz="3900" strike="noStrike" u="none">
                <a:solidFill>
                  <a:srgbClr val="1d1d1b"/>
                </a:solidFill>
                <a:effectLst/>
                <a:uFillTx/>
                <a:latin typeface="Tomorrow Semi Bold"/>
                <a:ea typeface="Tomorrow Semi Bold"/>
              </a:rPr>
              <a:t>Estructura del Manual</a:t>
            </a:r>
            <a:endParaRPr b="0" lang="en-US" sz="3900" strike="noStrike" u="none">
              <a:solidFill>
                <a:srgbClr val="000000"/>
              </a:solidFill>
              <a:effectLst/>
              <a:uFillTx/>
              <a:latin typeface="Arial"/>
            </a:endParaRPr>
          </a:p>
        </p:txBody>
      </p:sp>
      <p:sp>
        <p:nvSpPr>
          <p:cNvPr id="87" name="Text 3"/>
          <p:cNvSpPr/>
          <p:nvPr/>
        </p:nvSpPr>
        <p:spPr>
          <a:xfrm>
            <a:off x="793800" y="2458080"/>
            <a:ext cx="198000" cy="24768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Light"/>
                <a:ea typeface="Tomorrow Light"/>
              </a:rPr>
              <a:t>01</a:t>
            </a:r>
            <a:endParaRPr b="0" lang="en-US" sz="1550" strike="noStrike" u="none">
              <a:solidFill>
                <a:srgbClr val="000000"/>
              </a:solidFill>
              <a:effectLst/>
              <a:uFillTx/>
              <a:latin typeface="Arial"/>
            </a:endParaRPr>
          </a:p>
        </p:txBody>
      </p:sp>
      <p:sp>
        <p:nvSpPr>
          <p:cNvPr id="88" name="Shape 4"/>
          <p:cNvSpPr/>
          <p:nvPr/>
        </p:nvSpPr>
        <p:spPr>
          <a:xfrm>
            <a:off x="793800" y="2772360"/>
            <a:ext cx="627912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89" name="Text 5"/>
          <p:cNvSpPr/>
          <p:nvPr/>
        </p:nvSpPr>
        <p:spPr>
          <a:xfrm>
            <a:off x="793800" y="2917080"/>
            <a:ext cx="336888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Conceptos Fundamentales</a:t>
            </a:r>
            <a:endParaRPr b="0" lang="en-US" sz="1950" strike="noStrike" u="none">
              <a:solidFill>
                <a:srgbClr val="000000"/>
              </a:solidFill>
              <a:effectLst/>
              <a:uFillTx/>
              <a:latin typeface="Arial"/>
            </a:endParaRPr>
          </a:p>
        </p:txBody>
      </p:sp>
      <p:sp>
        <p:nvSpPr>
          <p:cNvPr id="90" name="Text 6"/>
          <p:cNvSpPr/>
          <p:nvPr/>
        </p:nvSpPr>
        <p:spPr>
          <a:xfrm>
            <a:off x="793800" y="3425760"/>
            <a:ext cx="6279120" cy="3171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Usuarios, roles y permisos explicados con claridad</a:t>
            </a:r>
            <a:endParaRPr b="0" lang="en-US" sz="1550" strike="noStrike" u="none">
              <a:solidFill>
                <a:srgbClr val="000000"/>
              </a:solidFill>
              <a:effectLst/>
              <a:uFillTx/>
              <a:latin typeface="Arial"/>
            </a:endParaRPr>
          </a:p>
        </p:txBody>
      </p:sp>
      <p:sp>
        <p:nvSpPr>
          <p:cNvPr id="91" name="Text 7"/>
          <p:cNvSpPr/>
          <p:nvPr/>
        </p:nvSpPr>
        <p:spPr>
          <a:xfrm>
            <a:off x="793800" y="4090320"/>
            <a:ext cx="198000" cy="24768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Light"/>
                <a:ea typeface="Tomorrow Light"/>
              </a:rPr>
              <a:t>02</a:t>
            </a:r>
            <a:endParaRPr b="0" lang="en-US" sz="1550" strike="noStrike" u="none">
              <a:solidFill>
                <a:srgbClr val="000000"/>
              </a:solidFill>
              <a:effectLst/>
              <a:uFillTx/>
              <a:latin typeface="Arial"/>
            </a:endParaRPr>
          </a:p>
        </p:txBody>
      </p:sp>
      <p:sp>
        <p:nvSpPr>
          <p:cNvPr id="92" name="Shape 8"/>
          <p:cNvSpPr/>
          <p:nvPr/>
        </p:nvSpPr>
        <p:spPr>
          <a:xfrm>
            <a:off x="793800" y="4404600"/>
            <a:ext cx="627912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93" name="Text 9"/>
          <p:cNvSpPr/>
          <p:nvPr/>
        </p:nvSpPr>
        <p:spPr>
          <a:xfrm>
            <a:off x="793800" y="4549680"/>
            <a:ext cx="248040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Gestión de Roles</a:t>
            </a:r>
            <a:endParaRPr b="0" lang="en-US" sz="1950" strike="noStrike" u="none">
              <a:solidFill>
                <a:srgbClr val="000000"/>
              </a:solidFill>
              <a:effectLst/>
              <a:uFillTx/>
              <a:latin typeface="Arial"/>
            </a:endParaRPr>
          </a:p>
        </p:txBody>
      </p:sp>
      <p:sp>
        <p:nvSpPr>
          <p:cNvPr id="94" name="Text 10"/>
          <p:cNvSpPr/>
          <p:nvPr/>
        </p:nvSpPr>
        <p:spPr>
          <a:xfrm>
            <a:off x="793800" y="5058000"/>
            <a:ext cx="6279120" cy="3171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Creación, edición y administración de plantillas de permisos</a:t>
            </a:r>
            <a:endParaRPr b="0" lang="en-US" sz="1550" strike="noStrike" u="none">
              <a:solidFill>
                <a:srgbClr val="000000"/>
              </a:solidFill>
              <a:effectLst/>
              <a:uFillTx/>
              <a:latin typeface="Arial"/>
            </a:endParaRPr>
          </a:p>
        </p:txBody>
      </p:sp>
      <p:sp>
        <p:nvSpPr>
          <p:cNvPr id="95" name="Text 11"/>
          <p:cNvSpPr/>
          <p:nvPr/>
        </p:nvSpPr>
        <p:spPr>
          <a:xfrm>
            <a:off x="793800" y="5722920"/>
            <a:ext cx="198000" cy="24768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Light"/>
                <a:ea typeface="Tomorrow Light"/>
              </a:rPr>
              <a:t>03</a:t>
            </a:r>
            <a:endParaRPr b="0" lang="en-US" sz="1550" strike="noStrike" u="none">
              <a:solidFill>
                <a:srgbClr val="000000"/>
              </a:solidFill>
              <a:effectLst/>
              <a:uFillTx/>
              <a:latin typeface="Arial"/>
            </a:endParaRPr>
          </a:p>
        </p:txBody>
      </p:sp>
      <p:sp>
        <p:nvSpPr>
          <p:cNvPr id="96" name="Shape 12"/>
          <p:cNvSpPr/>
          <p:nvPr/>
        </p:nvSpPr>
        <p:spPr>
          <a:xfrm>
            <a:off x="793800" y="6037200"/>
            <a:ext cx="627912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97" name="Text 13"/>
          <p:cNvSpPr/>
          <p:nvPr/>
        </p:nvSpPr>
        <p:spPr>
          <a:xfrm>
            <a:off x="793800" y="6181920"/>
            <a:ext cx="252036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Gestión de Usuarios</a:t>
            </a:r>
            <a:endParaRPr b="0" lang="en-US" sz="1950" strike="noStrike" u="none">
              <a:solidFill>
                <a:srgbClr val="000000"/>
              </a:solidFill>
              <a:effectLst/>
              <a:uFillTx/>
              <a:latin typeface="Arial"/>
            </a:endParaRPr>
          </a:p>
        </p:txBody>
      </p:sp>
      <p:sp>
        <p:nvSpPr>
          <p:cNvPr id="98" name="Text 14"/>
          <p:cNvSpPr/>
          <p:nvPr/>
        </p:nvSpPr>
        <p:spPr>
          <a:xfrm>
            <a:off x="793800" y="6690600"/>
            <a:ext cx="6279120" cy="3171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Invitación, configuración y mantenimiento de cuentas</a:t>
            </a:r>
            <a:endParaRPr b="0" lang="en-US" sz="1550" strike="noStrike" u="none">
              <a:solidFill>
                <a:srgbClr val="000000"/>
              </a:solidFill>
              <a:effectLst/>
              <a:uFillTx/>
              <a:latin typeface="Arial"/>
            </a:endParaRPr>
          </a:p>
        </p:txBody>
      </p:sp>
      <p:sp>
        <p:nvSpPr>
          <p:cNvPr id="99" name="Text 15"/>
          <p:cNvSpPr/>
          <p:nvPr/>
        </p:nvSpPr>
        <p:spPr>
          <a:xfrm>
            <a:off x="7565040" y="2458080"/>
            <a:ext cx="198000" cy="24768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Light"/>
                <a:ea typeface="Tomorrow Light"/>
              </a:rPr>
              <a:t>01</a:t>
            </a:r>
            <a:endParaRPr b="0" lang="en-US" sz="1550" strike="noStrike" u="none">
              <a:solidFill>
                <a:srgbClr val="000000"/>
              </a:solidFill>
              <a:effectLst/>
              <a:uFillTx/>
              <a:latin typeface="Arial"/>
            </a:endParaRPr>
          </a:p>
        </p:txBody>
      </p:sp>
      <p:sp>
        <p:nvSpPr>
          <p:cNvPr id="100" name="Shape 16"/>
          <p:cNvSpPr/>
          <p:nvPr/>
        </p:nvSpPr>
        <p:spPr>
          <a:xfrm>
            <a:off x="7565040" y="2772360"/>
            <a:ext cx="627912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101" name="Text 17"/>
          <p:cNvSpPr/>
          <p:nvPr/>
        </p:nvSpPr>
        <p:spPr>
          <a:xfrm>
            <a:off x="7565040" y="2917080"/>
            <a:ext cx="316836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Seguridad y Contraseñas</a:t>
            </a:r>
            <a:endParaRPr b="0" lang="en-US" sz="1950" strike="noStrike" u="none">
              <a:solidFill>
                <a:srgbClr val="000000"/>
              </a:solidFill>
              <a:effectLst/>
              <a:uFillTx/>
              <a:latin typeface="Arial"/>
            </a:endParaRPr>
          </a:p>
        </p:txBody>
      </p:sp>
      <p:sp>
        <p:nvSpPr>
          <p:cNvPr id="102" name="Text 18"/>
          <p:cNvSpPr/>
          <p:nvPr/>
        </p:nvSpPr>
        <p:spPr>
          <a:xfrm>
            <a:off x="7565040" y="3425760"/>
            <a:ext cx="6279120" cy="3171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Protección avanzada con BCrypt y mejores prácticas</a:t>
            </a:r>
            <a:endParaRPr b="0" lang="en-US" sz="1550" strike="noStrike" u="none">
              <a:solidFill>
                <a:srgbClr val="000000"/>
              </a:solidFill>
              <a:effectLst/>
              <a:uFillTx/>
              <a:latin typeface="Arial"/>
            </a:endParaRPr>
          </a:p>
        </p:txBody>
      </p:sp>
      <p:sp>
        <p:nvSpPr>
          <p:cNvPr id="103" name="Text 19"/>
          <p:cNvSpPr/>
          <p:nvPr/>
        </p:nvSpPr>
        <p:spPr>
          <a:xfrm>
            <a:off x="7565040" y="4090320"/>
            <a:ext cx="198000" cy="24768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Light"/>
                <a:ea typeface="Tomorrow Light"/>
              </a:rPr>
              <a:t>02</a:t>
            </a:r>
            <a:endParaRPr b="0" lang="en-US" sz="1550" strike="noStrike" u="none">
              <a:solidFill>
                <a:srgbClr val="000000"/>
              </a:solidFill>
              <a:effectLst/>
              <a:uFillTx/>
              <a:latin typeface="Arial"/>
            </a:endParaRPr>
          </a:p>
        </p:txBody>
      </p:sp>
      <p:sp>
        <p:nvSpPr>
          <p:cNvPr id="104" name="Shape 20"/>
          <p:cNvSpPr/>
          <p:nvPr/>
        </p:nvSpPr>
        <p:spPr>
          <a:xfrm>
            <a:off x="7565040" y="4404600"/>
            <a:ext cx="627912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105" name="Text 21"/>
          <p:cNvSpPr/>
          <p:nvPr/>
        </p:nvSpPr>
        <p:spPr>
          <a:xfrm>
            <a:off x="7565040" y="4549680"/>
            <a:ext cx="290916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Casos de Uso Prácticos</a:t>
            </a:r>
            <a:endParaRPr b="0" lang="en-US" sz="1950" strike="noStrike" u="none">
              <a:solidFill>
                <a:srgbClr val="000000"/>
              </a:solidFill>
              <a:effectLst/>
              <a:uFillTx/>
              <a:latin typeface="Arial"/>
            </a:endParaRPr>
          </a:p>
        </p:txBody>
      </p:sp>
      <p:sp>
        <p:nvSpPr>
          <p:cNvPr id="106" name="Text 22"/>
          <p:cNvSpPr/>
          <p:nvPr/>
        </p:nvSpPr>
        <p:spPr>
          <a:xfrm>
            <a:off x="7565040" y="5058000"/>
            <a:ext cx="6279120" cy="3171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Escenarios reales con soluciones paso a paso</a:t>
            </a:r>
            <a:endParaRPr b="0" lang="en-US" sz="1550" strike="noStrike" u="none">
              <a:solidFill>
                <a:srgbClr val="000000"/>
              </a:solidFill>
              <a:effectLst/>
              <a:uFillTx/>
              <a:latin typeface="Arial"/>
            </a:endParaRPr>
          </a:p>
        </p:txBody>
      </p:sp>
      <p:sp>
        <p:nvSpPr>
          <p:cNvPr id="107" name="Text 23"/>
          <p:cNvSpPr/>
          <p:nvPr/>
        </p:nvSpPr>
        <p:spPr>
          <a:xfrm>
            <a:off x="7565040" y="5722920"/>
            <a:ext cx="198000" cy="24768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Light"/>
                <a:ea typeface="Tomorrow Light"/>
              </a:rPr>
              <a:t>03</a:t>
            </a:r>
            <a:endParaRPr b="0" lang="en-US" sz="1550" strike="noStrike" u="none">
              <a:solidFill>
                <a:srgbClr val="000000"/>
              </a:solidFill>
              <a:effectLst/>
              <a:uFillTx/>
              <a:latin typeface="Arial"/>
            </a:endParaRPr>
          </a:p>
        </p:txBody>
      </p:sp>
      <p:sp>
        <p:nvSpPr>
          <p:cNvPr id="108" name="Shape 24"/>
          <p:cNvSpPr/>
          <p:nvPr/>
        </p:nvSpPr>
        <p:spPr>
          <a:xfrm>
            <a:off x="7565040" y="6037200"/>
            <a:ext cx="627912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109" name="Text 25"/>
          <p:cNvSpPr/>
          <p:nvPr/>
        </p:nvSpPr>
        <p:spPr>
          <a:xfrm>
            <a:off x="7565040" y="6181920"/>
            <a:ext cx="2904480" cy="3099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50" strike="noStrike" u="none">
                <a:solidFill>
                  <a:srgbClr val="61615c"/>
                </a:solidFill>
                <a:effectLst/>
                <a:uFillTx/>
                <a:latin typeface="Tomorrow Semi Bold"/>
                <a:ea typeface="Tomorrow Semi Bold"/>
              </a:rPr>
              <a:t>Solución de Problemas</a:t>
            </a:r>
            <a:endParaRPr b="0" lang="en-US" sz="1950" strike="noStrike" u="none">
              <a:solidFill>
                <a:srgbClr val="000000"/>
              </a:solidFill>
              <a:effectLst/>
              <a:uFillTx/>
              <a:latin typeface="Arial"/>
            </a:endParaRPr>
          </a:p>
        </p:txBody>
      </p:sp>
      <p:sp>
        <p:nvSpPr>
          <p:cNvPr id="110" name="Text 26"/>
          <p:cNvSpPr/>
          <p:nvPr/>
        </p:nvSpPr>
        <p:spPr>
          <a:xfrm>
            <a:off x="7565040" y="6690600"/>
            <a:ext cx="6279120" cy="3171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550" strike="noStrike" u="none">
                <a:solidFill>
                  <a:srgbClr val="61615c"/>
                </a:solidFill>
                <a:effectLst/>
                <a:uFillTx/>
                <a:latin typeface="Tomorrow"/>
                <a:ea typeface="Tomorrow"/>
              </a:rPr>
              <a:t>Diagnóstico y resolución de incidencias comunes</a:t>
            </a:r>
            <a:endParaRPr b="0" lang="en-US" sz="1550" strike="noStrike" u="none">
              <a:solidFill>
                <a:srgbClr val="000000"/>
              </a:solidFill>
              <a:effectLst/>
              <a:uFillTx/>
              <a:latin typeface="Arial"/>
            </a:endParaRPr>
          </a:p>
        </p:txBody>
      </p:sp>
      <p:pic>
        <p:nvPicPr>
          <p:cNvPr id="111" name="" descr=""/>
          <p:cNvPicPr/>
          <p:nvPr/>
        </p:nvPicPr>
        <p:blipFill>
          <a:blip r:embed="rId3"/>
          <a:stretch/>
        </p:blipFill>
        <p:spPr>
          <a:xfrm>
            <a:off x="12344400" y="7687080"/>
            <a:ext cx="2286000" cy="5425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Shape 0"/>
          <p:cNvSpPr/>
          <p:nvPr/>
        </p:nvSpPr>
        <p:spPr>
          <a:xfrm>
            <a:off x="699480" y="619200"/>
            <a:ext cx="975600" cy="328320"/>
          </a:xfrm>
          <a:prstGeom prst="roundRect">
            <a:avLst>
              <a:gd name="adj" fmla="val 6387"/>
            </a:avLst>
          </a:prstGeom>
          <a:solidFill>
            <a:srgbClr val="e6e6e5"/>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3" name="Text 1"/>
          <p:cNvSpPr/>
          <p:nvPr/>
        </p:nvSpPr>
        <p:spPr>
          <a:xfrm>
            <a:off x="804600" y="671760"/>
            <a:ext cx="765720" cy="22356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0" lang="en-US" sz="1100" strike="noStrike" u="none">
                <a:solidFill>
                  <a:srgbClr val="61615c"/>
                </a:solidFill>
                <a:effectLst/>
                <a:uFillTx/>
                <a:latin typeface="Tomorrow"/>
                <a:ea typeface="Tomorrow"/>
              </a:rPr>
              <a:t>CAPÍTULO 1</a:t>
            </a:r>
            <a:endParaRPr b="0" lang="en-US" sz="1100" strike="noStrike" u="none">
              <a:solidFill>
                <a:srgbClr val="000000"/>
              </a:solidFill>
              <a:effectLst/>
              <a:uFillTx/>
              <a:latin typeface="Arial"/>
            </a:endParaRPr>
          </a:p>
        </p:txBody>
      </p:sp>
      <p:sp>
        <p:nvSpPr>
          <p:cNvPr id="114" name="Text 2"/>
          <p:cNvSpPr/>
          <p:nvPr/>
        </p:nvSpPr>
        <p:spPr>
          <a:xfrm>
            <a:off x="699480" y="1017720"/>
            <a:ext cx="5938920" cy="546120"/>
          </a:xfrm>
          <a:prstGeom prst="rect">
            <a:avLst/>
          </a:prstGeom>
          <a:noFill/>
          <a:ln w="0">
            <a:noFill/>
          </a:ln>
        </p:spPr>
        <p:style>
          <a:lnRef idx="0"/>
          <a:fillRef idx="0"/>
          <a:effectRef idx="0"/>
          <a:fontRef idx="minor"/>
        </p:style>
        <p:txBody>
          <a:bodyPr wrap="none" lIns="0" rIns="0" tIns="0" bIns="0" anchor="t">
            <a:noAutofit/>
          </a:bodyPr>
          <a:p>
            <a:pPr>
              <a:lnSpc>
                <a:spcPts val="4300"/>
              </a:lnSpc>
              <a:tabLst>
                <a:tab algn="l" pos="0"/>
              </a:tabLst>
            </a:pPr>
            <a:r>
              <a:rPr b="0" lang="en-US" sz="3400" strike="noStrike" u="none">
                <a:solidFill>
                  <a:srgbClr val="1d1d1b"/>
                </a:solidFill>
                <a:effectLst/>
                <a:uFillTx/>
                <a:latin typeface="Tomorrow Semi Bold"/>
                <a:ea typeface="Tomorrow Semi Bold"/>
              </a:rPr>
              <a:t>Conceptos Fundamentales</a:t>
            </a:r>
            <a:endParaRPr b="0" lang="en-US" sz="3400" strike="noStrike" u="none">
              <a:solidFill>
                <a:srgbClr val="000000"/>
              </a:solidFill>
              <a:effectLst/>
              <a:uFillTx/>
              <a:latin typeface="Arial"/>
            </a:endParaRPr>
          </a:p>
        </p:txBody>
      </p:sp>
      <p:sp>
        <p:nvSpPr>
          <p:cNvPr id="115" name="Text 3"/>
          <p:cNvSpPr/>
          <p:nvPr/>
        </p:nvSpPr>
        <p:spPr>
          <a:xfrm>
            <a:off x="699480" y="1634400"/>
            <a:ext cx="4399560" cy="3276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trike="noStrike" u="none">
                <a:solidFill>
                  <a:srgbClr val="1d1d1b"/>
                </a:solidFill>
                <a:effectLst/>
                <a:uFillTx/>
                <a:latin typeface="Tomorrow Semi Bold"/>
                <a:ea typeface="Tomorrow Semi Bold"/>
              </a:rPr>
              <a:t>La Base de la Gestión de Accesos</a:t>
            </a:r>
            <a:endParaRPr b="0" lang="en-US" sz="2050" strike="noStrike" u="none">
              <a:solidFill>
                <a:srgbClr val="000000"/>
              </a:solidFill>
              <a:effectLst/>
              <a:uFillTx/>
              <a:latin typeface="Arial"/>
            </a:endParaRPr>
          </a:p>
        </p:txBody>
      </p:sp>
      <p:sp>
        <p:nvSpPr>
          <p:cNvPr id="116" name="Text 4"/>
          <p:cNvSpPr/>
          <p:nvPr/>
        </p:nvSpPr>
        <p:spPr>
          <a:xfrm>
            <a:off x="699480" y="2224440"/>
            <a:ext cx="13230720" cy="5590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350" strike="noStrike" u="none">
                <a:solidFill>
                  <a:srgbClr val="61615c"/>
                </a:solidFill>
                <a:effectLst/>
                <a:uFillTx/>
                <a:latin typeface="Tomorrow"/>
                <a:ea typeface="Tomorrow"/>
              </a:rPr>
              <a:t>Antes de comenzar a gestionar usuarios y roles, es fundamental comprender tres conceptos clave que estructuran todo el sistema de permisos. Estos elementos trabajan juntos para garantizar que cada persona tenga exactamente el acceso que necesita, ni más ni menos.</a:t>
            </a:r>
            <a:endParaRPr b="0" lang="en-US" sz="1350" strike="noStrike" u="none">
              <a:solidFill>
                <a:srgbClr val="000000"/>
              </a:solidFill>
              <a:effectLst/>
              <a:uFillTx/>
              <a:latin typeface="Arial"/>
            </a:endParaRPr>
          </a:p>
        </p:txBody>
      </p:sp>
      <p:sp>
        <p:nvSpPr>
          <p:cNvPr id="117" name="Shape 5"/>
          <p:cNvSpPr/>
          <p:nvPr/>
        </p:nvSpPr>
        <p:spPr>
          <a:xfrm>
            <a:off x="699480" y="2980800"/>
            <a:ext cx="13230720" cy="1333080"/>
          </a:xfrm>
          <a:prstGeom prst="roundRect">
            <a:avLst>
              <a:gd name="adj" fmla="val 1968"/>
            </a:avLst>
          </a:prstGeom>
          <a:solidFill>
            <a:srgbClr val="fcfcfc"/>
          </a:solidFill>
          <a:ln w="2286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8" name="Shape 6"/>
          <p:cNvSpPr/>
          <p:nvPr/>
        </p:nvSpPr>
        <p:spPr>
          <a:xfrm>
            <a:off x="722520" y="3003840"/>
            <a:ext cx="699120" cy="1287360"/>
          </a:xfrm>
          <a:prstGeom prst="rect">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19" name="Image 0" descr="preencoded.png"/>
          <p:cNvPicPr/>
          <p:nvPr/>
        </p:nvPicPr>
        <p:blipFill>
          <a:blip r:embed="rId1">
            <a:extLst>
              <a:ext uri="{96DAC541-7B7A-43D3-8B79-37D633B846F1}">
                <asvg:svgBlip xmlns:asvg="http://schemas.microsoft.com/office/drawing/2016/SVG/main" r:embed="rId2"/>
              </a:ext>
            </a:extLst>
          </a:blip>
          <a:stretch/>
        </p:blipFill>
        <p:spPr>
          <a:xfrm>
            <a:off x="941040" y="3516120"/>
            <a:ext cx="262080" cy="262080"/>
          </a:xfrm>
          <a:prstGeom prst="rect">
            <a:avLst/>
          </a:prstGeom>
          <a:noFill/>
          <a:ln w="0">
            <a:noFill/>
          </a:ln>
        </p:spPr>
      </p:pic>
      <p:sp>
        <p:nvSpPr>
          <p:cNvPr id="120" name="Text 7"/>
          <p:cNvSpPr/>
          <p:nvPr/>
        </p:nvSpPr>
        <p:spPr>
          <a:xfrm>
            <a:off x="1596960" y="3178440"/>
            <a:ext cx="2185920" cy="2728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trike="noStrike" u="none">
                <a:solidFill>
                  <a:srgbClr val="61615c"/>
                </a:solidFill>
                <a:effectLst/>
                <a:uFillTx/>
                <a:latin typeface="Tomorrow Semi Bold"/>
                <a:ea typeface="Tomorrow Semi Bold"/>
              </a:rPr>
              <a:t>Usuario</a:t>
            </a:r>
            <a:endParaRPr b="0" lang="en-US" sz="1700" strike="noStrike" u="none">
              <a:solidFill>
                <a:srgbClr val="000000"/>
              </a:solidFill>
              <a:effectLst/>
              <a:uFillTx/>
              <a:latin typeface="Arial"/>
            </a:endParaRPr>
          </a:p>
        </p:txBody>
      </p:sp>
      <p:sp>
        <p:nvSpPr>
          <p:cNvPr id="121" name="Text 8"/>
          <p:cNvSpPr/>
          <p:nvPr/>
        </p:nvSpPr>
        <p:spPr>
          <a:xfrm>
            <a:off x="1596960" y="3556800"/>
            <a:ext cx="12135600" cy="5590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350" strike="noStrike" u="none">
                <a:solidFill>
                  <a:srgbClr val="61615c"/>
                </a:solidFill>
                <a:effectLst/>
                <a:uFillTx/>
                <a:latin typeface="Tomorrow"/>
                <a:ea typeface="Tomorrow"/>
              </a:rPr>
              <a:t>Una persona de su organización con acceso a la plataforma.</a:t>
            </a:r>
            <a:r>
              <a:rPr b="0" lang="en-US" sz="1350" strike="noStrike" u="none">
                <a:solidFill>
                  <a:srgbClr val="61615c"/>
                </a:solidFill>
                <a:effectLst/>
                <a:uFillTx/>
                <a:latin typeface="Tomorrow"/>
                <a:ea typeface="Tomorrow"/>
              </a:rPr>
              <a:t> Cada usuario cuenta con identificación única (username y email), credenciales de acceso encriptadas, perfil personal completo y uno o más roles que definen sus capacidades en el sistema.</a:t>
            </a:r>
            <a:endParaRPr b="0" lang="en-US" sz="1350" strike="noStrike" u="none">
              <a:solidFill>
                <a:srgbClr val="000000"/>
              </a:solidFill>
              <a:effectLst/>
              <a:uFillTx/>
              <a:latin typeface="Arial"/>
            </a:endParaRPr>
          </a:p>
        </p:txBody>
      </p:sp>
      <p:sp>
        <p:nvSpPr>
          <p:cNvPr id="122" name="Shape 9"/>
          <p:cNvSpPr/>
          <p:nvPr/>
        </p:nvSpPr>
        <p:spPr>
          <a:xfrm>
            <a:off x="699480" y="4488840"/>
            <a:ext cx="13230720" cy="1612800"/>
          </a:xfrm>
          <a:prstGeom prst="roundRect">
            <a:avLst>
              <a:gd name="adj" fmla="val 1627"/>
            </a:avLst>
          </a:prstGeom>
          <a:solidFill>
            <a:srgbClr val="fcfcfc"/>
          </a:solidFill>
          <a:ln w="2286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3" name="Shape 10"/>
          <p:cNvSpPr/>
          <p:nvPr/>
        </p:nvSpPr>
        <p:spPr>
          <a:xfrm>
            <a:off x="722520" y="4511880"/>
            <a:ext cx="699120" cy="1567080"/>
          </a:xfrm>
          <a:prstGeom prst="rect">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24" name="Image 1" descr="preencoded.png"/>
          <p:cNvPicPr/>
          <p:nvPr/>
        </p:nvPicPr>
        <p:blipFill>
          <a:blip r:embed="rId3">
            <a:extLst>
              <a:ext uri="{96DAC541-7B7A-43D3-8B79-37D633B846F1}">
                <asvg:svgBlip xmlns:asvg="http://schemas.microsoft.com/office/drawing/2016/SVG/main" r:embed="rId4"/>
              </a:ext>
            </a:extLst>
          </a:blip>
          <a:stretch/>
        </p:blipFill>
        <p:spPr>
          <a:xfrm>
            <a:off x="941040" y="5164200"/>
            <a:ext cx="262080" cy="262080"/>
          </a:xfrm>
          <a:prstGeom prst="rect">
            <a:avLst/>
          </a:prstGeom>
          <a:noFill/>
          <a:ln w="0">
            <a:noFill/>
          </a:ln>
        </p:spPr>
      </p:pic>
      <p:sp>
        <p:nvSpPr>
          <p:cNvPr id="125" name="Text 11"/>
          <p:cNvSpPr/>
          <p:nvPr/>
        </p:nvSpPr>
        <p:spPr>
          <a:xfrm>
            <a:off x="1596960" y="4686840"/>
            <a:ext cx="2185920" cy="2728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trike="noStrike" u="none">
                <a:solidFill>
                  <a:srgbClr val="61615c"/>
                </a:solidFill>
                <a:effectLst/>
                <a:uFillTx/>
                <a:latin typeface="Tomorrow Semi Bold"/>
                <a:ea typeface="Tomorrow Semi Bold"/>
              </a:rPr>
              <a:t>Rol</a:t>
            </a:r>
            <a:endParaRPr b="0" lang="en-US" sz="1700" strike="noStrike" u="none">
              <a:solidFill>
                <a:srgbClr val="000000"/>
              </a:solidFill>
              <a:effectLst/>
              <a:uFillTx/>
              <a:latin typeface="Arial"/>
            </a:endParaRPr>
          </a:p>
        </p:txBody>
      </p:sp>
      <p:sp>
        <p:nvSpPr>
          <p:cNvPr id="126" name="Text 12"/>
          <p:cNvSpPr/>
          <p:nvPr/>
        </p:nvSpPr>
        <p:spPr>
          <a:xfrm>
            <a:off x="1596960" y="5064840"/>
            <a:ext cx="12135600" cy="83916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350" strike="noStrike" u="none">
                <a:solidFill>
                  <a:srgbClr val="61615c"/>
                </a:solidFill>
                <a:effectLst/>
                <a:uFillTx/>
                <a:latin typeface="Tomorrow"/>
                <a:ea typeface="Tomorrow"/>
              </a:rPr>
              <a:t>Una plantilla de permisos que define QUÉ puede hacer un usuario.</a:t>
            </a:r>
            <a:r>
              <a:rPr b="0" lang="en-US" sz="1350" strike="noStrike" u="none">
                <a:solidFill>
                  <a:srgbClr val="61615c"/>
                </a:solidFill>
                <a:effectLst/>
                <a:uFillTx/>
                <a:latin typeface="Tomorrow"/>
                <a:ea typeface="Tomorrow"/>
              </a:rPr>
              <a:t> Piense en los roles como llaves maestras: un Gerente General tiene llaves de todas las áreas, mientras que un Recepcionista solo accede a zonas específicas. Los roles organizan permisos de forma lógica y reutilizable.</a:t>
            </a:r>
            <a:endParaRPr b="0" lang="en-US" sz="1350" strike="noStrike" u="none">
              <a:solidFill>
                <a:srgbClr val="000000"/>
              </a:solidFill>
              <a:effectLst/>
              <a:uFillTx/>
              <a:latin typeface="Arial"/>
            </a:endParaRPr>
          </a:p>
        </p:txBody>
      </p:sp>
      <p:sp>
        <p:nvSpPr>
          <p:cNvPr id="127" name="Shape 13"/>
          <p:cNvSpPr/>
          <p:nvPr/>
        </p:nvSpPr>
        <p:spPr>
          <a:xfrm>
            <a:off x="699480" y="6276960"/>
            <a:ext cx="13230720" cy="1333080"/>
          </a:xfrm>
          <a:prstGeom prst="roundRect">
            <a:avLst>
              <a:gd name="adj" fmla="val 1968"/>
            </a:avLst>
          </a:prstGeom>
          <a:solidFill>
            <a:srgbClr val="fcfcfc"/>
          </a:solidFill>
          <a:ln w="2286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8" name="Shape 14"/>
          <p:cNvSpPr/>
          <p:nvPr/>
        </p:nvSpPr>
        <p:spPr>
          <a:xfrm>
            <a:off x="722520" y="6300000"/>
            <a:ext cx="699120" cy="1287360"/>
          </a:xfrm>
          <a:prstGeom prst="rect">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29" name="Image 2" descr="preencoded.png"/>
          <p:cNvPicPr/>
          <p:nvPr/>
        </p:nvPicPr>
        <p:blipFill>
          <a:blip r:embed="rId5">
            <a:extLst>
              <a:ext uri="{96DAC541-7B7A-43D3-8B79-37D633B846F1}">
                <asvg:svgBlip xmlns:asvg="http://schemas.microsoft.com/office/drawing/2016/SVG/main" r:embed="rId6"/>
              </a:ext>
            </a:extLst>
          </a:blip>
          <a:stretch/>
        </p:blipFill>
        <p:spPr>
          <a:xfrm>
            <a:off x="941040" y="6812280"/>
            <a:ext cx="262080" cy="262080"/>
          </a:xfrm>
          <a:prstGeom prst="rect">
            <a:avLst/>
          </a:prstGeom>
          <a:noFill/>
          <a:ln w="0">
            <a:noFill/>
          </a:ln>
        </p:spPr>
      </p:pic>
      <p:sp>
        <p:nvSpPr>
          <p:cNvPr id="130" name="Text 15"/>
          <p:cNvSpPr/>
          <p:nvPr/>
        </p:nvSpPr>
        <p:spPr>
          <a:xfrm>
            <a:off x="1596960" y="6474600"/>
            <a:ext cx="2185920" cy="2728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trike="noStrike" u="none">
                <a:solidFill>
                  <a:srgbClr val="61615c"/>
                </a:solidFill>
                <a:effectLst/>
                <a:uFillTx/>
                <a:latin typeface="Tomorrow Semi Bold"/>
                <a:ea typeface="Tomorrow Semi Bold"/>
              </a:rPr>
              <a:t>Permiso</a:t>
            </a:r>
            <a:endParaRPr b="0" lang="en-US" sz="1700" strike="noStrike" u="none">
              <a:solidFill>
                <a:srgbClr val="000000"/>
              </a:solidFill>
              <a:effectLst/>
              <a:uFillTx/>
              <a:latin typeface="Arial"/>
            </a:endParaRPr>
          </a:p>
        </p:txBody>
      </p:sp>
      <p:sp>
        <p:nvSpPr>
          <p:cNvPr id="131" name="Text 16"/>
          <p:cNvSpPr/>
          <p:nvPr/>
        </p:nvSpPr>
        <p:spPr>
          <a:xfrm>
            <a:off x="1596960" y="6852960"/>
            <a:ext cx="12135600" cy="5590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350" strike="noStrike" u="none">
                <a:solidFill>
                  <a:srgbClr val="61615c"/>
                </a:solidFill>
                <a:effectLst/>
                <a:uFillTx/>
                <a:latin typeface="Tomorrow"/>
                <a:ea typeface="Tomorrow"/>
              </a:rPr>
              <a:t>Una acción específica que un rol puede realizar.</a:t>
            </a:r>
            <a:r>
              <a:rPr b="0" lang="en-US" sz="1350" strike="noStrike" u="none">
                <a:solidFill>
                  <a:srgbClr val="61615c"/>
                </a:solidFill>
                <a:effectLst/>
                <a:uFillTx/>
                <a:latin typeface="Tomorrow"/>
                <a:ea typeface="Tomorrow"/>
              </a:rPr>
              <a:t> Los permisos siguen la estructura MÓDULO_RECURSO_ACCIÓN (ejemplo: RRHH_EMPLEADO_VIEW). Se organizan en cuatro niveles jerárquicos: VIEW (consulta), CREATE (agregar), EDIT (modificar) y DELETE (eliminar).</a:t>
            </a:r>
            <a:endParaRPr b="0" lang="en-US" sz="1350" strike="noStrike" u="none">
              <a:solidFill>
                <a:srgbClr val="000000"/>
              </a:solidFill>
              <a:effectLst/>
              <a:uFillTx/>
              <a:latin typeface="Arial"/>
            </a:endParaRPr>
          </a:p>
        </p:txBody>
      </p:sp>
      <p:pic>
        <p:nvPicPr>
          <p:cNvPr id="132" name="" descr=""/>
          <p:cNvPicPr/>
          <p:nvPr/>
        </p:nvPicPr>
        <p:blipFill>
          <a:blip r:embed="rId7"/>
          <a:stretch/>
        </p:blipFill>
        <p:spPr>
          <a:xfrm>
            <a:off x="12344400" y="7687440"/>
            <a:ext cx="2286000" cy="5425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 0"/>
          <p:cNvSpPr/>
          <p:nvPr/>
        </p:nvSpPr>
        <p:spPr>
          <a:xfrm>
            <a:off x="669960" y="703800"/>
            <a:ext cx="11135880" cy="523080"/>
          </a:xfrm>
          <a:prstGeom prst="rect">
            <a:avLst/>
          </a:prstGeom>
          <a:noFill/>
          <a:ln w="0">
            <a:noFill/>
          </a:ln>
        </p:spPr>
        <p:style>
          <a:lnRef idx="0"/>
          <a:fillRef idx="0"/>
          <a:effectRef idx="0"/>
          <a:fontRef idx="minor"/>
        </p:style>
        <p:txBody>
          <a:bodyPr wrap="none" lIns="0" rIns="0" tIns="0" bIns="0" anchor="t">
            <a:noAutofit/>
          </a:bodyPr>
          <a:p>
            <a:pPr>
              <a:lnSpc>
                <a:spcPts val="4099"/>
              </a:lnSpc>
              <a:tabLst>
                <a:tab algn="l" pos="0"/>
              </a:tabLst>
            </a:pPr>
            <a:r>
              <a:rPr b="0" lang="en-US" sz="3250" strike="noStrike" u="none">
                <a:solidFill>
                  <a:srgbClr val="1d1d1b"/>
                </a:solidFill>
                <a:effectLst/>
                <a:uFillTx/>
                <a:latin typeface="Tomorrow Semi Bold"/>
                <a:ea typeface="Tomorrow Semi Bold"/>
              </a:rPr>
              <a:t>La Analogía del Hotel: Entendiendo Roles y Permisos</a:t>
            </a:r>
            <a:endParaRPr b="0" lang="en-US" sz="3250" strike="noStrike" u="none">
              <a:solidFill>
                <a:srgbClr val="000000"/>
              </a:solidFill>
              <a:effectLst/>
              <a:uFillTx/>
              <a:latin typeface="Arial"/>
            </a:endParaRPr>
          </a:p>
        </p:txBody>
      </p:sp>
      <p:pic>
        <p:nvPicPr>
          <p:cNvPr id="134" name="Image 0" descr="preencoded.png"/>
          <p:cNvPicPr/>
          <p:nvPr/>
        </p:nvPicPr>
        <p:blipFill>
          <a:blip r:embed="rId1"/>
          <a:stretch/>
        </p:blipFill>
        <p:spPr>
          <a:xfrm>
            <a:off x="669960" y="1666800"/>
            <a:ext cx="5070600" cy="5070600"/>
          </a:xfrm>
          <a:prstGeom prst="rect">
            <a:avLst/>
          </a:prstGeom>
          <a:noFill/>
          <a:ln w="0">
            <a:noFill/>
          </a:ln>
        </p:spPr>
      </p:pic>
      <p:sp>
        <p:nvSpPr>
          <p:cNvPr id="135" name="Text 1"/>
          <p:cNvSpPr/>
          <p:nvPr/>
        </p:nvSpPr>
        <p:spPr>
          <a:xfrm>
            <a:off x="6157080" y="1645920"/>
            <a:ext cx="4640760" cy="31356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0" lang="en-US" sz="1950" strike="noStrike" u="none">
                <a:solidFill>
                  <a:srgbClr val="1d1d1b"/>
                </a:solidFill>
                <a:effectLst/>
                <a:uFillTx/>
                <a:latin typeface="Tomorrow Semi Bold"/>
                <a:ea typeface="Tomorrow Semi Bold"/>
              </a:rPr>
              <a:t>Imagine que su empresa es un hotel</a:t>
            </a:r>
            <a:endParaRPr b="0" lang="en-US" sz="1950" strike="noStrike" u="none">
              <a:solidFill>
                <a:srgbClr val="000000"/>
              </a:solidFill>
              <a:effectLst/>
              <a:uFillTx/>
              <a:latin typeface="Arial"/>
            </a:endParaRPr>
          </a:p>
        </p:txBody>
      </p:sp>
      <p:sp>
        <p:nvSpPr>
          <p:cNvPr id="136" name="Shape 2"/>
          <p:cNvSpPr/>
          <p:nvPr/>
        </p:nvSpPr>
        <p:spPr>
          <a:xfrm>
            <a:off x="6157080" y="2148120"/>
            <a:ext cx="669600" cy="1299600"/>
          </a:xfrm>
          <a:prstGeom prst="roundRect">
            <a:avLst>
              <a:gd name="adj" fmla="val 360033"/>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37" name="Image 1" descr="preencoded.png"/>
          <p:cNvPicPr/>
          <p:nvPr/>
        </p:nvPicPr>
        <p:blipFill>
          <a:blip r:embed="rId2">
            <a:extLst>
              <a:ext uri="{96DAC541-7B7A-43D3-8B79-37D633B846F1}">
                <asvg:svgBlip xmlns:asvg="http://schemas.microsoft.com/office/drawing/2016/SVG/main" r:embed="rId3"/>
              </a:ext>
            </a:extLst>
          </a:blip>
          <a:stretch/>
        </p:blipFill>
        <p:spPr>
          <a:xfrm>
            <a:off x="6366600" y="2672280"/>
            <a:ext cx="250920" cy="250920"/>
          </a:xfrm>
          <a:prstGeom prst="rect">
            <a:avLst/>
          </a:prstGeom>
          <a:noFill/>
          <a:ln w="0">
            <a:noFill/>
          </a:ln>
        </p:spPr>
      </p:pic>
      <p:sp>
        <p:nvSpPr>
          <p:cNvPr id="138" name="Text 3"/>
          <p:cNvSpPr/>
          <p:nvPr/>
        </p:nvSpPr>
        <p:spPr>
          <a:xfrm>
            <a:off x="6994440" y="2315520"/>
            <a:ext cx="2093400" cy="2613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00" strike="noStrike" u="none">
                <a:solidFill>
                  <a:srgbClr val="61615c"/>
                </a:solidFill>
                <a:effectLst/>
                <a:uFillTx/>
                <a:latin typeface="Tomorrow Semi Bold"/>
                <a:ea typeface="Tomorrow Semi Bold"/>
              </a:rPr>
              <a:t>Gerente General</a:t>
            </a:r>
            <a:endParaRPr b="0" lang="en-US" sz="1600" strike="noStrike" u="none">
              <a:solidFill>
                <a:srgbClr val="000000"/>
              </a:solidFill>
              <a:effectLst/>
              <a:uFillTx/>
              <a:latin typeface="Arial"/>
            </a:endParaRPr>
          </a:p>
        </p:txBody>
      </p:sp>
      <p:sp>
        <p:nvSpPr>
          <p:cNvPr id="139" name="Text 4"/>
          <p:cNvSpPr/>
          <p:nvPr/>
        </p:nvSpPr>
        <p:spPr>
          <a:xfrm>
            <a:off x="6994440" y="2744640"/>
            <a:ext cx="6972840" cy="53568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Tiene llaves de todas las habitaciones, áreas comunes, caja fuerte y oficinas administrativas. </a:t>
            </a:r>
            <a:r>
              <a:rPr b="1" lang="en-US" sz="1300" strike="noStrike" u="none">
                <a:solidFill>
                  <a:srgbClr val="61615c"/>
                </a:solidFill>
                <a:effectLst/>
                <a:uFillTx/>
                <a:latin typeface="Tomorrow"/>
                <a:ea typeface="Tomorrow"/>
              </a:rPr>
              <a:t>En la plataforma:</a:t>
            </a:r>
            <a:r>
              <a:rPr b="0" lang="en-US" sz="1300" strike="noStrike" u="none">
                <a:solidFill>
                  <a:srgbClr val="61615c"/>
                </a:solidFill>
                <a:effectLst/>
                <a:uFillTx/>
                <a:latin typeface="Tomorrow"/>
                <a:ea typeface="Tomorrow"/>
              </a:rPr>
              <a:t> Rol con todos los permisos disponibles.</a:t>
            </a:r>
            <a:endParaRPr b="0" lang="en-US" sz="1300" strike="noStrike" u="none">
              <a:solidFill>
                <a:srgbClr val="000000"/>
              </a:solidFill>
              <a:effectLst/>
              <a:uFillTx/>
              <a:latin typeface="Arial"/>
            </a:endParaRPr>
          </a:p>
        </p:txBody>
      </p:sp>
      <p:sp>
        <p:nvSpPr>
          <p:cNvPr id="140" name="Shape 5"/>
          <p:cNvSpPr/>
          <p:nvPr/>
        </p:nvSpPr>
        <p:spPr>
          <a:xfrm>
            <a:off x="6157080" y="3615480"/>
            <a:ext cx="669600" cy="1299600"/>
          </a:xfrm>
          <a:prstGeom prst="roundRect">
            <a:avLst>
              <a:gd name="adj" fmla="val 360033"/>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41" name="Image 2" descr="preencoded.png"/>
          <p:cNvPicPr/>
          <p:nvPr/>
        </p:nvPicPr>
        <p:blipFill>
          <a:blip r:embed="rId4">
            <a:extLst>
              <a:ext uri="{96DAC541-7B7A-43D3-8B79-37D633B846F1}">
                <asvg:svgBlip xmlns:asvg="http://schemas.microsoft.com/office/drawing/2016/SVG/main" r:embed="rId5"/>
              </a:ext>
            </a:extLst>
          </a:blip>
          <a:stretch/>
        </p:blipFill>
        <p:spPr>
          <a:xfrm>
            <a:off x="6366600" y="4139640"/>
            <a:ext cx="250920" cy="250920"/>
          </a:xfrm>
          <a:prstGeom prst="rect">
            <a:avLst/>
          </a:prstGeom>
          <a:noFill/>
          <a:ln w="0">
            <a:noFill/>
          </a:ln>
        </p:spPr>
      </p:pic>
      <p:sp>
        <p:nvSpPr>
          <p:cNvPr id="142" name="Text 6"/>
          <p:cNvSpPr/>
          <p:nvPr/>
        </p:nvSpPr>
        <p:spPr>
          <a:xfrm>
            <a:off x="6994440" y="3782880"/>
            <a:ext cx="2093400" cy="2613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00" strike="noStrike" u="none">
                <a:solidFill>
                  <a:srgbClr val="61615c"/>
                </a:solidFill>
                <a:effectLst/>
                <a:uFillTx/>
                <a:latin typeface="Tomorrow Semi Bold"/>
                <a:ea typeface="Tomorrow Semi Bold"/>
              </a:rPr>
              <a:t>Recepcionista</a:t>
            </a:r>
            <a:endParaRPr b="0" lang="en-US" sz="1600" strike="noStrike" u="none">
              <a:solidFill>
                <a:srgbClr val="000000"/>
              </a:solidFill>
              <a:effectLst/>
              <a:uFillTx/>
              <a:latin typeface="Arial"/>
            </a:endParaRPr>
          </a:p>
        </p:txBody>
      </p:sp>
      <p:sp>
        <p:nvSpPr>
          <p:cNvPr id="143" name="Text 7"/>
          <p:cNvSpPr/>
          <p:nvPr/>
        </p:nvSpPr>
        <p:spPr>
          <a:xfrm>
            <a:off x="6994440" y="4212000"/>
            <a:ext cx="6972840" cy="53568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Solo tiene llaves de la recepción, el lobby y acceso al sistema de reservas. </a:t>
            </a:r>
            <a:r>
              <a:rPr b="1" lang="en-US" sz="1300" strike="noStrike" u="none">
                <a:solidFill>
                  <a:srgbClr val="61615c"/>
                </a:solidFill>
                <a:effectLst/>
                <a:uFillTx/>
                <a:latin typeface="Tomorrow"/>
                <a:ea typeface="Tomorrow"/>
              </a:rPr>
              <a:t>En la plataforma:</a:t>
            </a:r>
            <a:r>
              <a:rPr b="0" lang="en-US" sz="1300" strike="noStrike" u="none">
                <a:solidFill>
                  <a:srgbClr val="61615c"/>
                </a:solidFill>
                <a:effectLst/>
                <a:uFillTx/>
                <a:latin typeface="Tomorrow"/>
                <a:ea typeface="Tomorrow"/>
              </a:rPr>
              <a:t> Rol con permisos limitados (ver y registrar información básica).</a:t>
            </a:r>
            <a:endParaRPr b="0" lang="en-US" sz="1300" strike="noStrike" u="none">
              <a:solidFill>
                <a:srgbClr val="000000"/>
              </a:solidFill>
              <a:effectLst/>
              <a:uFillTx/>
              <a:latin typeface="Arial"/>
            </a:endParaRPr>
          </a:p>
        </p:txBody>
      </p:sp>
      <p:sp>
        <p:nvSpPr>
          <p:cNvPr id="144" name="Shape 8"/>
          <p:cNvSpPr/>
          <p:nvPr/>
        </p:nvSpPr>
        <p:spPr>
          <a:xfrm>
            <a:off x="6157080" y="5082840"/>
            <a:ext cx="669600" cy="1299600"/>
          </a:xfrm>
          <a:prstGeom prst="roundRect">
            <a:avLst>
              <a:gd name="adj" fmla="val 360033"/>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45" name="Image 3" descr="preencoded.png"/>
          <p:cNvPicPr/>
          <p:nvPr/>
        </p:nvPicPr>
        <p:blipFill>
          <a:blip r:embed="rId6">
            <a:extLst>
              <a:ext uri="{96DAC541-7B7A-43D3-8B79-37D633B846F1}">
                <asvg:svgBlip xmlns:asvg="http://schemas.microsoft.com/office/drawing/2016/SVG/main" r:embed="rId7"/>
              </a:ext>
            </a:extLst>
          </a:blip>
          <a:stretch/>
        </p:blipFill>
        <p:spPr>
          <a:xfrm>
            <a:off x="6366600" y="5607000"/>
            <a:ext cx="250920" cy="250920"/>
          </a:xfrm>
          <a:prstGeom prst="rect">
            <a:avLst/>
          </a:prstGeom>
          <a:noFill/>
          <a:ln w="0">
            <a:noFill/>
          </a:ln>
        </p:spPr>
      </p:pic>
      <p:sp>
        <p:nvSpPr>
          <p:cNvPr id="146" name="Text 9"/>
          <p:cNvSpPr/>
          <p:nvPr/>
        </p:nvSpPr>
        <p:spPr>
          <a:xfrm>
            <a:off x="6994440" y="5250240"/>
            <a:ext cx="2277000" cy="2613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00" strike="noStrike" u="none">
                <a:solidFill>
                  <a:srgbClr val="61615c"/>
                </a:solidFill>
                <a:effectLst/>
                <a:uFillTx/>
                <a:latin typeface="Tomorrow Semi Bold"/>
                <a:ea typeface="Tomorrow Semi Bold"/>
              </a:rPr>
              <a:t>Personal de Limpieza</a:t>
            </a:r>
            <a:endParaRPr b="0" lang="en-US" sz="1600" strike="noStrike" u="none">
              <a:solidFill>
                <a:srgbClr val="000000"/>
              </a:solidFill>
              <a:effectLst/>
              <a:uFillTx/>
              <a:latin typeface="Arial"/>
            </a:endParaRPr>
          </a:p>
        </p:txBody>
      </p:sp>
      <p:sp>
        <p:nvSpPr>
          <p:cNvPr id="147" name="Text 10"/>
          <p:cNvSpPr/>
          <p:nvPr/>
        </p:nvSpPr>
        <p:spPr>
          <a:xfrm>
            <a:off x="6994440" y="5679360"/>
            <a:ext cx="6972840" cy="53568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Tiene llaves de las habitaciones asignadas pero no de la caja fuerte ni oficinas. </a:t>
            </a:r>
            <a:r>
              <a:rPr b="1" lang="en-US" sz="1300" strike="noStrike" u="none">
                <a:solidFill>
                  <a:srgbClr val="61615c"/>
                </a:solidFill>
                <a:effectLst/>
                <a:uFillTx/>
                <a:latin typeface="Tomorrow"/>
                <a:ea typeface="Tomorrow"/>
              </a:rPr>
              <a:t>En la plataforma:</a:t>
            </a:r>
            <a:r>
              <a:rPr b="0" lang="en-US" sz="1300" strike="noStrike" u="none">
                <a:solidFill>
                  <a:srgbClr val="61615c"/>
                </a:solidFill>
                <a:effectLst/>
                <a:uFillTx/>
                <a:latin typeface="Tomorrow"/>
                <a:ea typeface="Tomorrow"/>
              </a:rPr>
              <a:t> Rol con permisos específicos de un área funcional.</a:t>
            </a:r>
            <a:endParaRPr b="0" lang="en-US" sz="1300" strike="noStrike" u="none">
              <a:solidFill>
                <a:srgbClr val="000000"/>
              </a:solidFill>
              <a:effectLst/>
              <a:uFillTx/>
              <a:latin typeface="Arial"/>
            </a:endParaRPr>
          </a:p>
        </p:txBody>
      </p:sp>
      <p:sp>
        <p:nvSpPr>
          <p:cNvPr id="148" name="Text 11"/>
          <p:cNvSpPr/>
          <p:nvPr/>
        </p:nvSpPr>
        <p:spPr>
          <a:xfrm>
            <a:off x="6157080" y="6571080"/>
            <a:ext cx="7810200" cy="80352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Esta analogía ilustra perfectamente cómo los roles delimitan el acceso: cada persona tiene exactamente las "llaves" que necesita para realizar su trabajo, protegiendo áreas sensibles de accesos no autorizados.</a:t>
            </a:r>
            <a:endParaRPr b="0" lang="en-US" sz="1300" strike="noStrike" u="none">
              <a:solidFill>
                <a:srgbClr val="000000"/>
              </a:solidFill>
              <a:effectLst/>
              <a:uFillTx/>
              <a:latin typeface="Arial"/>
            </a:endParaRPr>
          </a:p>
        </p:txBody>
      </p:sp>
      <p:pic>
        <p:nvPicPr>
          <p:cNvPr id="149" name="" descr=""/>
          <p:cNvPicPr/>
          <p:nvPr/>
        </p:nvPicPr>
        <p:blipFill>
          <a:blip r:embed="rId8"/>
          <a:stretch/>
        </p:blipFill>
        <p:spPr>
          <a:xfrm>
            <a:off x="12344400" y="7687440"/>
            <a:ext cx="2286000" cy="5425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Shape 0"/>
          <p:cNvSpPr/>
          <p:nvPr/>
        </p:nvSpPr>
        <p:spPr>
          <a:xfrm>
            <a:off x="606240" y="416880"/>
            <a:ext cx="1041120" cy="284040"/>
          </a:xfrm>
          <a:prstGeom prst="roundRect">
            <a:avLst>
              <a:gd name="adj" fmla="val 6391"/>
            </a:avLst>
          </a:prstGeom>
          <a:solidFill>
            <a:srgbClr val="e6e6e5"/>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1" name="Text 1"/>
          <p:cNvSpPr/>
          <p:nvPr/>
        </p:nvSpPr>
        <p:spPr>
          <a:xfrm>
            <a:off x="696960" y="462240"/>
            <a:ext cx="859320" cy="19332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950" strike="noStrike" u="none">
                <a:solidFill>
                  <a:srgbClr val="61615c"/>
                </a:solidFill>
                <a:effectLst/>
                <a:uFillTx/>
                <a:latin typeface="Tomorrow"/>
                <a:ea typeface="Tomorrow"/>
              </a:rPr>
              <a:t>REGLA DE ORO</a:t>
            </a:r>
            <a:endParaRPr b="0" lang="en-US" sz="950" strike="noStrike" u="none">
              <a:solidFill>
                <a:srgbClr val="000000"/>
              </a:solidFill>
              <a:effectLst/>
              <a:uFillTx/>
              <a:latin typeface="Arial"/>
            </a:endParaRPr>
          </a:p>
        </p:txBody>
      </p:sp>
      <p:sp>
        <p:nvSpPr>
          <p:cNvPr id="152" name="Text 2"/>
          <p:cNvSpPr/>
          <p:nvPr/>
        </p:nvSpPr>
        <p:spPr>
          <a:xfrm>
            <a:off x="606240" y="761760"/>
            <a:ext cx="8932680" cy="473040"/>
          </a:xfrm>
          <a:prstGeom prst="rect">
            <a:avLst/>
          </a:prstGeom>
          <a:noFill/>
          <a:ln w="0">
            <a:noFill/>
          </a:ln>
        </p:spPr>
        <p:style>
          <a:lnRef idx="0"/>
          <a:fillRef idx="0"/>
          <a:effectRef idx="0"/>
          <a:fontRef idx="minor"/>
        </p:style>
        <p:txBody>
          <a:bodyPr wrap="none" lIns="0" rIns="0" tIns="0" bIns="0" anchor="t">
            <a:noAutofit/>
          </a:bodyPr>
          <a:p>
            <a:pPr>
              <a:lnSpc>
                <a:spcPts val="3699"/>
              </a:lnSpc>
              <a:tabLst>
                <a:tab algn="l" pos="0"/>
              </a:tabLst>
            </a:pPr>
            <a:r>
              <a:rPr b="0" lang="en-US" sz="2950" strike="noStrike" u="none">
                <a:solidFill>
                  <a:srgbClr val="1d1d1b"/>
                </a:solidFill>
                <a:effectLst/>
                <a:uFillTx/>
                <a:latin typeface="Tomorrow Semi Bold"/>
                <a:ea typeface="Tomorrow Semi Bold"/>
              </a:rPr>
              <a:t>Jerarquía de Permisos: Integridad del Sistema</a:t>
            </a:r>
            <a:endParaRPr b="0" lang="en-US" sz="2950" strike="noStrike" u="none">
              <a:solidFill>
                <a:srgbClr val="000000"/>
              </a:solidFill>
              <a:effectLst/>
              <a:uFillTx/>
              <a:latin typeface="Arial"/>
            </a:endParaRPr>
          </a:p>
        </p:txBody>
      </p:sp>
      <p:sp>
        <p:nvSpPr>
          <p:cNvPr id="153" name="Text 3"/>
          <p:cNvSpPr/>
          <p:nvPr/>
        </p:nvSpPr>
        <p:spPr>
          <a:xfrm>
            <a:off x="833400" y="1689840"/>
            <a:ext cx="6693480" cy="378360"/>
          </a:xfrm>
          <a:prstGeom prst="rect">
            <a:avLst/>
          </a:prstGeom>
          <a:noFill/>
          <a:ln w="0">
            <a:noFill/>
          </a:ln>
        </p:spPr>
        <p:style>
          <a:lnRef idx="0"/>
          <a:fillRef idx="0"/>
          <a:effectRef idx="0"/>
          <a:fontRef idx="minor"/>
        </p:style>
        <p:txBody>
          <a:bodyPr wrap="none" lIns="0" rIns="0" tIns="0" bIns="0" anchor="t">
            <a:noAutofit/>
          </a:bodyPr>
          <a:p>
            <a:pPr>
              <a:lnSpc>
                <a:spcPts val="2951"/>
              </a:lnSpc>
              <a:tabLst>
                <a:tab algn="l" pos="0"/>
              </a:tabLst>
            </a:pPr>
            <a:r>
              <a:rPr b="0" lang="en-US" sz="2350" strike="noStrike" u="none">
                <a:solidFill>
                  <a:srgbClr val="1d1d1b"/>
                </a:solidFill>
                <a:effectLst/>
                <a:uFillTx/>
                <a:latin typeface="Tomorrow Semi Bold"/>
                <a:ea typeface="Tomorrow Semi Bold"/>
              </a:rPr>
              <a:t>"No puedes modificar lo que no puedes ver"</a:t>
            </a:r>
            <a:endParaRPr b="0" lang="en-US" sz="2350" strike="noStrike" u="none">
              <a:solidFill>
                <a:srgbClr val="000000"/>
              </a:solidFill>
              <a:effectLst/>
              <a:uFillTx/>
              <a:latin typeface="Arial"/>
            </a:endParaRPr>
          </a:p>
        </p:txBody>
      </p:sp>
      <p:sp>
        <p:nvSpPr>
          <p:cNvPr id="154" name="Shape 4"/>
          <p:cNvSpPr/>
          <p:nvPr/>
        </p:nvSpPr>
        <p:spPr>
          <a:xfrm>
            <a:off x="606240" y="1462680"/>
            <a:ext cx="14760" cy="833040"/>
          </a:xfrm>
          <a:prstGeom prst="rect">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5" name="Text 5"/>
          <p:cNvSpPr/>
          <p:nvPr/>
        </p:nvSpPr>
        <p:spPr>
          <a:xfrm>
            <a:off x="606240" y="2466360"/>
            <a:ext cx="13417920" cy="48456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150" strike="noStrike" u="none">
                <a:solidFill>
                  <a:srgbClr val="61615c"/>
                </a:solidFill>
                <a:effectLst/>
                <a:uFillTx/>
                <a:latin typeface="Tomorrow"/>
                <a:ea typeface="Tomorrow"/>
              </a:rPr>
              <a:t>El sistema implementa una </a:t>
            </a:r>
            <a:r>
              <a:rPr b="1" lang="en-US" sz="1150" strike="noStrike" u="none">
                <a:solidFill>
                  <a:srgbClr val="61615c"/>
                </a:solidFill>
                <a:effectLst/>
                <a:uFillTx/>
                <a:latin typeface="Tomorrow"/>
                <a:ea typeface="Tomorrow"/>
              </a:rPr>
              <a:t>dependencia lógica automática</a:t>
            </a:r>
            <a:r>
              <a:rPr b="0" lang="en-US" sz="1150" strike="noStrike" u="none">
                <a:solidFill>
                  <a:srgbClr val="61615c"/>
                </a:solidFill>
                <a:effectLst/>
                <a:uFillTx/>
                <a:latin typeface="Tomorrow"/>
                <a:ea typeface="Tomorrow"/>
              </a:rPr>
              <a:t> que garantiza la coherencia de los permisos. Esta regla fundamental previene situaciones ilógicas donde un usuario podría editar información que no puede visualizar.</a:t>
            </a:r>
            <a:endParaRPr b="0" lang="en-US" sz="1150" strike="noStrike" u="none">
              <a:solidFill>
                <a:srgbClr val="000000"/>
              </a:solidFill>
              <a:effectLst/>
              <a:uFillTx/>
              <a:latin typeface="Arial"/>
            </a:endParaRPr>
          </a:p>
        </p:txBody>
      </p:sp>
      <p:pic>
        <p:nvPicPr>
          <p:cNvPr id="156" name="" descr=""/>
          <p:cNvPicPr/>
          <p:nvPr/>
        </p:nvPicPr>
        <p:blipFill>
          <a:blip r:embed="rId1"/>
          <a:stretch/>
        </p:blipFill>
        <p:spPr>
          <a:xfrm>
            <a:off x="12801600" y="7772400"/>
            <a:ext cx="1828800" cy="447480"/>
          </a:xfrm>
          <a:prstGeom prst="rect">
            <a:avLst/>
          </a:prstGeom>
          <a:noFill/>
          <a:ln w="0">
            <a:noFill/>
          </a:ln>
        </p:spPr>
      </p:pic>
      <p:grpSp>
        <p:nvGrpSpPr>
          <p:cNvPr id="157" name=""/>
          <p:cNvGrpSpPr/>
          <p:nvPr/>
        </p:nvGrpSpPr>
        <p:grpSpPr>
          <a:xfrm>
            <a:off x="606240" y="3121560"/>
            <a:ext cx="13417920" cy="4692960"/>
            <a:chOff x="606240" y="3121560"/>
            <a:chExt cx="13417920" cy="4692960"/>
          </a:xfrm>
        </p:grpSpPr>
        <p:pic>
          <p:nvPicPr>
            <p:cNvPr id="158" name="Image 0" descr="preencoded.png"/>
            <p:cNvPicPr/>
            <p:nvPr/>
          </p:nvPicPr>
          <p:blipFill>
            <a:blip r:embed="rId2"/>
            <a:stretch/>
          </p:blipFill>
          <p:spPr>
            <a:xfrm>
              <a:off x="606240" y="3121560"/>
              <a:ext cx="757080" cy="908640"/>
            </a:xfrm>
            <a:prstGeom prst="rect">
              <a:avLst/>
            </a:prstGeom>
            <a:noFill/>
            <a:ln w="0">
              <a:noFill/>
            </a:ln>
          </p:spPr>
        </p:pic>
        <p:sp>
          <p:nvSpPr>
            <p:cNvPr id="159" name="Text 6"/>
            <p:cNvSpPr/>
            <p:nvPr/>
          </p:nvSpPr>
          <p:spPr>
            <a:xfrm>
              <a:off x="1515240" y="3273120"/>
              <a:ext cx="1893960" cy="2361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450" strike="noStrike" u="none">
                  <a:solidFill>
                    <a:srgbClr val="61615c"/>
                  </a:solidFill>
                  <a:effectLst/>
                  <a:uFillTx/>
                  <a:latin typeface="Tomorrow Semi Bold"/>
                  <a:ea typeface="Tomorrow Semi Bold"/>
                </a:rPr>
                <a:t>Permiso VIEW (Ver)</a:t>
              </a:r>
              <a:endParaRPr b="0" lang="en-US" sz="1450" strike="noStrike" u="none">
                <a:solidFill>
                  <a:srgbClr val="000000"/>
                </a:solidFill>
                <a:effectLst/>
                <a:uFillTx/>
                <a:latin typeface="Arial"/>
              </a:endParaRPr>
            </a:p>
          </p:txBody>
        </p:sp>
        <p:sp>
          <p:nvSpPr>
            <p:cNvPr id="160" name="Text 7"/>
            <p:cNvSpPr/>
            <p:nvPr/>
          </p:nvSpPr>
          <p:spPr>
            <a:xfrm>
              <a:off x="1515240" y="3600720"/>
              <a:ext cx="12508560" cy="24192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0" lang="en-US" sz="1150" strike="noStrike" u="none">
                  <a:solidFill>
                    <a:srgbClr val="61615c"/>
                  </a:solidFill>
                  <a:effectLst/>
                  <a:uFillTx/>
                  <a:latin typeface="Tomorrow"/>
                  <a:ea typeface="Tomorrow"/>
                </a:rPr>
                <a:t>Base fundamental: permite consultar información sin modificarla. Es el permiso mínimo requerido para cualquier interacción con un recurso.</a:t>
              </a:r>
              <a:endParaRPr b="0" lang="en-US" sz="1150" strike="noStrike" u="none">
                <a:solidFill>
                  <a:srgbClr val="000000"/>
                </a:solidFill>
                <a:effectLst/>
                <a:uFillTx/>
                <a:latin typeface="Arial"/>
              </a:endParaRPr>
            </a:p>
          </p:txBody>
        </p:sp>
        <p:pic>
          <p:nvPicPr>
            <p:cNvPr id="161" name="Image 1" descr="preencoded.png"/>
            <p:cNvPicPr/>
            <p:nvPr/>
          </p:nvPicPr>
          <p:blipFill>
            <a:blip r:embed="rId3"/>
            <a:stretch/>
          </p:blipFill>
          <p:spPr>
            <a:xfrm>
              <a:off x="606240" y="4030920"/>
              <a:ext cx="757080" cy="908640"/>
            </a:xfrm>
            <a:prstGeom prst="rect">
              <a:avLst/>
            </a:prstGeom>
            <a:noFill/>
            <a:ln w="0">
              <a:noFill/>
            </a:ln>
          </p:spPr>
        </p:pic>
        <p:sp>
          <p:nvSpPr>
            <p:cNvPr id="162" name="Text 8"/>
            <p:cNvSpPr/>
            <p:nvPr/>
          </p:nvSpPr>
          <p:spPr>
            <a:xfrm>
              <a:off x="1515240" y="4182480"/>
              <a:ext cx="2301840" cy="2361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450" strike="noStrike" u="none">
                  <a:solidFill>
                    <a:srgbClr val="61615c"/>
                  </a:solidFill>
                  <a:effectLst/>
                  <a:uFillTx/>
                  <a:latin typeface="Tomorrow Semi Bold"/>
                  <a:ea typeface="Tomorrow Semi Bold"/>
                </a:rPr>
                <a:t>Permiso CREATE (Crear)</a:t>
              </a:r>
              <a:endParaRPr b="0" lang="en-US" sz="1450" strike="noStrike" u="none">
                <a:solidFill>
                  <a:srgbClr val="000000"/>
                </a:solidFill>
                <a:effectLst/>
                <a:uFillTx/>
                <a:latin typeface="Arial"/>
              </a:endParaRPr>
            </a:p>
          </p:txBody>
        </p:sp>
        <p:sp>
          <p:nvSpPr>
            <p:cNvPr id="163" name="Text 9"/>
            <p:cNvSpPr/>
            <p:nvPr/>
          </p:nvSpPr>
          <p:spPr>
            <a:xfrm>
              <a:off x="1515240" y="4509720"/>
              <a:ext cx="12508560" cy="24192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0" lang="en-US" sz="1150" strike="noStrike" u="none">
                  <a:solidFill>
                    <a:srgbClr val="61615c"/>
                  </a:solidFill>
                  <a:effectLst/>
                  <a:uFillTx/>
                  <a:latin typeface="Tomorrow"/>
                  <a:ea typeface="Tomorrow"/>
                </a:rPr>
                <a:t>Incluye automáticamente VIEW. Permite agregar nuevos registros, y necesariamente requiere ver el contexto donde se crean.</a:t>
              </a:r>
              <a:endParaRPr b="0" lang="en-US" sz="1150" strike="noStrike" u="none">
                <a:solidFill>
                  <a:srgbClr val="000000"/>
                </a:solidFill>
                <a:effectLst/>
                <a:uFillTx/>
                <a:latin typeface="Arial"/>
              </a:endParaRPr>
            </a:p>
          </p:txBody>
        </p:sp>
        <p:pic>
          <p:nvPicPr>
            <p:cNvPr id="164" name="Image 2" descr="preencoded.png"/>
            <p:cNvPicPr/>
            <p:nvPr/>
          </p:nvPicPr>
          <p:blipFill>
            <a:blip r:embed="rId4"/>
            <a:stretch/>
          </p:blipFill>
          <p:spPr>
            <a:xfrm>
              <a:off x="606240" y="4939920"/>
              <a:ext cx="757080" cy="908640"/>
            </a:xfrm>
            <a:prstGeom prst="rect">
              <a:avLst/>
            </a:prstGeom>
            <a:noFill/>
            <a:ln w="0">
              <a:noFill/>
            </a:ln>
          </p:spPr>
        </p:pic>
        <p:sp>
          <p:nvSpPr>
            <p:cNvPr id="165" name="Text 10"/>
            <p:cNvSpPr/>
            <p:nvPr/>
          </p:nvSpPr>
          <p:spPr>
            <a:xfrm>
              <a:off x="1515240" y="5091480"/>
              <a:ext cx="2065320" cy="2361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450" strike="noStrike" u="none">
                  <a:solidFill>
                    <a:srgbClr val="61615c"/>
                  </a:solidFill>
                  <a:effectLst/>
                  <a:uFillTx/>
                  <a:latin typeface="Tomorrow Semi Bold"/>
                  <a:ea typeface="Tomorrow Semi Bold"/>
                </a:rPr>
                <a:t>Permiso EDIT (Editar)</a:t>
              </a:r>
              <a:endParaRPr b="0" lang="en-US" sz="1450" strike="noStrike" u="none">
                <a:solidFill>
                  <a:srgbClr val="000000"/>
                </a:solidFill>
                <a:effectLst/>
                <a:uFillTx/>
                <a:latin typeface="Arial"/>
              </a:endParaRPr>
            </a:p>
          </p:txBody>
        </p:sp>
        <p:sp>
          <p:nvSpPr>
            <p:cNvPr id="166" name="Text 11"/>
            <p:cNvSpPr/>
            <p:nvPr/>
          </p:nvSpPr>
          <p:spPr>
            <a:xfrm>
              <a:off x="1515240" y="5419080"/>
              <a:ext cx="12508560" cy="24192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0" lang="en-US" sz="1150" strike="noStrike" u="none">
                  <a:solidFill>
                    <a:srgbClr val="61615c"/>
                  </a:solidFill>
                  <a:effectLst/>
                  <a:uFillTx/>
                  <a:latin typeface="Tomorrow"/>
                  <a:ea typeface="Tomorrow"/>
                </a:rPr>
                <a:t>Incluye automáticamente VIEW. Permite modificar registros existentes, lo cual requiere verlos primero para seleccionarlos.</a:t>
              </a:r>
              <a:endParaRPr b="0" lang="en-US" sz="1150" strike="noStrike" u="none">
                <a:solidFill>
                  <a:srgbClr val="000000"/>
                </a:solidFill>
                <a:effectLst/>
                <a:uFillTx/>
                <a:latin typeface="Arial"/>
              </a:endParaRPr>
            </a:p>
          </p:txBody>
        </p:sp>
        <p:pic>
          <p:nvPicPr>
            <p:cNvPr id="167" name="Image 3" descr="preencoded.png"/>
            <p:cNvPicPr/>
            <p:nvPr/>
          </p:nvPicPr>
          <p:blipFill>
            <a:blip r:embed="rId5"/>
            <a:stretch/>
          </p:blipFill>
          <p:spPr>
            <a:xfrm>
              <a:off x="606240" y="5849280"/>
              <a:ext cx="757080" cy="908640"/>
            </a:xfrm>
            <a:prstGeom prst="rect">
              <a:avLst/>
            </a:prstGeom>
            <a:noFill/>
            <a:ln w="0">
              <a:noFill/>
            </a:ln>
          </p:spPr>
        </p:pic>
        <p:sp>
          <p:nvSpPr>
            <p:cNvPr id="168" name="Text 12"/>
            <p:cNvSpPr/>
            <p:nvPr/>
          </p:nvSpPr>
          <p:spPr>
            <a:xfrm>
              <a:off x="1515240" y="6000480"/>
              <a:ext cx="2591640" cy="2361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450" strike="noStrike" u="none">
                  <a:solidFill>
                    <a:srgbClr val="61615c"/>
                  </a:solidFill>
                  <a:effectLst/>
                  <a:uFillTx/>
                  <a:latin typeface="Tomorrow Semi Bold"/>
                  <a:ea typeface="Tomorrow Semi Bold"/>
                </a:rPr>
                <a:t>Permiso DELETE (Eliminar)</a:t>
              </a:r>
              <a:endParaRPr b="0" lang="en-US" sz="1450" strike="noStrike" u="none">
                <a:solidFill>
                  <a:srgbClr val="000000"/>
                </a:solidFill>
                <a:effectLst/>
                <a:uFillTx/>
                <a:latin typeface="Arial"/>
              </a:endParaRPr>
            </a:p>
          </p:txBody>
        </p:sp>
        <p:sp>
          <p:nvSpPr>
            <p:cNvPr id="169" name="Text 13"/>
            <p:cNvSpPr/>
            <p:nvPr/>
          </p:nvSpPr>
          <p:spPr>
            <a:xfrm>
              <a:off x="1515240" y="6328080"/>
              <a:ext cx="12508560" cy="24192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0" lang="en-US" sz="1150" strike="noStrike" u="none">
                  <a:solidFill>
                    <a:srgbClr val="61615c"/>
                  </a:solidFill>
                  <a:effectLst/>
                  <a:uFillTx/>
                  <a:latin typeface="Tomorrow"/>
                  <a:ea typeface="Tomorrow"/>
                </a:rPr>
                <a:t>Incluye automáticamente VIEW. Permite borrar registros, pero primero debe visualizarlos para identificar cuáles eliminar.</a:t>
              </a:r>
              <a:endParaRPr b="0" lang="en-US" sz="1150" strike="noStrike" u="none">
                <a:solidFill>
                  <a:srgbClr val="000000"/>
                </a:solidFill>
                <a:effectLst/>
                <a:uFillTx/>
                <a:latin typeface="Arial"/>
              </a:endParaRPr>
            </a:p>
          </p:txBody>
        </p:sp>
        <p:sp>
          <p:nvSpPr>
            <p:cNvPr id="170" name="Shape 14"/>
            <p:cNvSpPr/>
            <p:nvPr/>
          </p:nvSpPr>
          <p:spPr>
            <a:xfrm>
              <a:off x="606240" y="6928560"/>
              <a:ext cx="13417920" cy="885960"/>
            </a:xfrm>
            <a:prstGeom prst="roundRect">
              <a:avLst>
                <a:gd name="adj" fmla="val 2565"/>
              </a:avLst>
            </a:prstGeom>
            <a:solidFill>
              <a:srgbClr val="dadad7"/>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71" name="Image 4" descr="preencoded.png"/>
            <p:cNvPicPr/>
            <p:nvPr/>
          </p:nvPicPr>
          <p:blipFill>
            <a:blip r:embed="rId6"/>
            <a:stretch/>
          </p:blipFill>
          <p:spPr>
            <a:xfrm>
              <a:off x="757440" y="7160760"/>
              <a:ext cx="189000" cy="151200"/>
            </a:xfrm>
            <a:prstGeom prst="rect">
              <a:avLst/>
            </a:prstGeom>
            <a:noFill/>
            <a:ln w="0">
              <a:noFill/>
            </a:ln>
          </p:spPr>
        </p:pic>
        <p:sp>
          <p:nvSpPr>
            <p:cNvPr id="172" name="Text 15"/>
            <p:cNvSpPr/>
            <p:nvPr/>
          </p:nvSpPr>
          <p:spPr>
            <a:xfrm>
              <a:off x="1098360" y="7117920"/>
              <a:ext cx="12774240" cy="48456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1" lang="en-US" sz="1150" strike="noStrike" u="none">
                  <a:solidFill>
                    <a:srgbClr val="000000"/>
                  </a:solidFill>
                  <a:effectLst/>
                  <a:uFillTx/>
                  <a:latin typeface="Tomorrow"/>
                  <a:ea typeface="Tomorrow"/>
                </a:rPr>
                <a:t>Ejemplo práctico:</a:t>
              </a:r>
              <a:r>
                <a:rPr b="0" lang="en-US" sz="1150" strike="noStrike" u="none">
                  <a:solidFill>
                    <a:srgbClr val="000000"/>
                  </a:solidFill>
                  <a:effectLst/>
                  <a:uFillTx/>
                  <a:latin typeface="Tomorrow"/>
                  <a:ea typeface="Tomorrow"/>
                </a:rPr>
                <a:t> Si asigna "Editar Empleados" pero NO "Ver Empleados", el usuario intentaría editar pero no vería la lista de empleados disponibles, imposibilitando seleccionar QUÉ editar. El sistema previene automáticamente esta inconsistencia agregando VIEW cuando asigna CREATE, EDIT o DELETE.</a:t>
              </a:r>
              <a:endParaRPr b="0" lang="en-US" sz="115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3" name="Image 0" descr="preencoded.png"/>
          <p:cNvPicPr/>
          <p:nvPr/>
        </p:nvPicPr>
        <p:blipFill>
          <a:blip r:embed="rId1"/>
          <a:stretch/>
        </p:blipFill>
        <p:spPr>
          <a:xfrm>
            <a:off x="9144000" y="0"/>
            <a:ext cx="5486040" cy="8229240"/>
          </a:xfrm>
          <a:prstGeom prst="rect">
            <a:avLst/>
          </a:prstGeom>
          <a:noFill/>
          <a:ln w="0">
            <a:noFill/>
          </a:ln>
        </p:spPr>
      </p:pic>
      <p:sp>
        <p:nvSpPr>
          <p:cNvPr id="174" name="Shape 0"/>
          <p:cNvSpPr/>
          <p:nvPr/>
        </p:nvSpPr>
        <p:spPr>
          <a:xfrm>
            <a:off x="645120" y="445680"/>
            <a:ext cx="2158920" cy="317880"/>
          </a:xfrm>
          <a:prstGeom prst="roundRect">
            <a:avLst>
              <a:gd name="adj" fmla="val 6082"/>
            </a:avLst>
          </a:prstGeom>
          <a:noFill/>
          <a:ln w="7620">
            <a:solidFill>
              <a:srgbClr val="1d1d1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75" name="Image 1" descr="preencoded.png"/>
          <p:cNvPicPr/>
          <p:nvPr/>
        </p:nvPicPr>
        <p:blipFill>
          <a:blip r:embed="rId2">
            <a:extLst>
              <a:ext uri="{96DAC541-7B7A-43D3-8B79-37D633B846F1}">
                <asvg:svgBlip xmlns:asvg="http://schemas.microsoft.com/office/drawing/2016/SVG/main" r:embed="rId3"/>
              </a:ext>
            </a:extLst>
          </a:blip>
          <a:stretch/>
        </p:blipFill>
        <p:spPr>
          <a:xfrm>
            <a:off x="749160" y="540360"/>
            <a:ext cx="128520" cy="128520"/>
          </a:xfrm>
          <a:prstGeom prst="rect">
            <a:avLst/>
          </a:prstGeom>
          <a:noFill/>
          <a:ln w="0">
            <a:noFill/>
          </a:ln>
        </p:spPr>
      </p:pic>
      <p:sp>
        <p:nvSpPr>
          <p:cNvPr id="176" name="Text 1"/>
          <p:cNvSpPr/>
          <p:nvPr/>
        </p:nvSpPr>
        <p:spPr>
          <a:xfrm>
            <a:off x="942480" y="501840"/>
            <a:ext cx="1757160" cy="20592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1d1d1b"/>
                </a:solidFill>
                <a:effectLst/>
                <a:uFillTx/>
                <a:latin typeface="Tomorrow"/>
                <a:ea typeface="Tomorrow"/>
              </a:rPr>
              <a:t>FUNCIONALIDAD AVANZADA</a:t>
            </a:r>
            <a:endParaRPr b="0" lang="en-US" sz="1000" strike="noStrike" u="none">
              <a:solidFill>
                <a:srgbClr val="000000"/>
              </a:solidFill>
              <a:effectLst/>
              <a:uFillTx/>
              <a:latin typeface="Arial"/>
            </a:endParaRPr>
          </a:p>
        </p:txBody>
      </p:sp>
      <p:sp>
        <p:nvSpPr>
          <p:cNvPr id="177" name="Text 2"/>
          <p:cNvSpPr/>
          <p:nvPr/>
        </p:nvSpPr>
        <p:spPr>
          <a:xfrm>
            <a:off x="645120" y="828360"/>
            <a:ext cx="7853760" cy="1007280"/>
          </a:xfrm>
          <a:prstGeom prst="rect">
            <a:avLst/>
          </a:prstGeom>
          <a:noFill/>
          <a:ln w="0">
            <a:noFill/>
          </a:ln>
        </p:spPr>
        <p:style>
          <a:lnRef idx="0"/>
          <a:fillRef idx="0"/>
          <a:effectRef idx="0"/>
          <a:fontRef idx="minor"/>
        </p:style>
        <p:txBody>
          <a:bodyPr lIns="0" rIns="0" tIns="0" bIns="0" anchor="t">
            <a:noAutofit/>
          </a:bodyPr>
          <a:p>
            <a:pPr>
              <a:lnSpc>
                <a:spcPts val="3949"/>
              </a:lnSpc>
              <a:tabLst>
                <a:tab algn="l" pos="0"/>
              </a:tabLst>
            </a:pPr>
            <a:r>
              <a:rPr b="0" lang="en-US" sz="3150" strike="noStrike" u="none">
                <a:solidFill>
                  <a:srgbClr val="1d1d1b"/>
                </a:solidFill>
                <a:effectLst/>
                <a:uFillTx/>
                <a:latin typeface="Tomorrow Semi Bold"/>
                <a:ea typeface="Tomorrow Semi Bold"/>
              </a:rPr>
              <a:t>Múltiples Roles por Usuario: Flexibilidad Total</a:t>
            </a:r>
            <a:endParaRPr b="0" lang="en-US" sz="3150" strike="noStrike" u="none">
              <a:solidFill>
                <a:srgbClr val="000000"/>
              </a:solidFill>
              <a:effectLst/>
              <a:uFillTx/>
              <a:latin typeface="Arial"/>
            </a:endParaRPr>
          </a:p>
        </p:txBody>
      </p:sp>
      <p:sp>
        <p:nvSpPr>
          <p:cNvPr id="178" name="Text 3"/>
          <p:cNvSpPr/>
          <p:nvPr/>
        </p:nvSpPr>
        <p:spPr>
          <a:xfrm>
            <a:off x="645120" y="2239200"/>
            <a:ext cx="2431080" cy="30168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900" strike="noStrike" u="none">
                <a:solidFill>
                  <a:srgbClr val="1d1d1b"/>
                </a:solidFill>
                <a:effectLst/>
                <a:uFillTx/>
                <a:latin typeface="Tomorrow Semi Bold"/>
                <a:ea typeface="Tomorrow Semi Bold"/>
              </a:rPr>
              <a:t>Característica Clave</a:t>
            </a:r>
            <a:endParaRPr b="0" lang="en-US" sz="1900" strike="noStrike" u="none">
              <a:solidFill>
                <a:srgbClr val="000000"/>
              </a:solidFill>
              <a:effectLst/>
              <a:uFillTx/>
              <a:latin typeface="Arial"/>
            </a:endParaRPr>
          </a:p>
        </p:txBody>
      </p:sp>
      <p:sp>
        <p:nvSpPr>
          <p:cNvPr id="179" name="Text 4"/>
          <p:cNvSpPr/>
          <p:nvPr/>
        </p:nvSpPr>
        <p:spPr>
          <a:xfrm>
            <a:off x="645120" y="2702520"/>
            <a:ext cx="3729960" cy="128916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b="0" lang="en-US" sz="1250" strike="noStrike" u="none">
                <a:solidFill>
                  <a:srgbClr val="61615c"/>
                </a:solidFill>
                <a:effectLst/>
                <a:uFillTx/>
                <a:latin typeface="Tomorrow"/>
                <a:ea typeface="Tomorrow"/>
              </a:rPr>
              <a:t>Un usuario puede tener </a:t>
            </a:r>
            <a:r>
              <a:rPr b="1" lang="en-US" sz="1250" strike="noStrike" u="none">
                <a:solidFill>
                  <a:srgbClr val="61615c"/>
                </a:solidFill>
                <a:effectLst/>
                <a:uFillTx/>
                <a:latin typeface="Tomorrow"/>
                <a:ea typeface="Tomorrow"/>
              </a:rPr>
              <a:t>varios roles simultáneamente</a:t>
            </a:r>
            <a:r>
              <a:rPr b="0" lang="en-US" sz="1250" strike="noStrike" u="none">
                <a:solidFill>
                  <a:srgbClr val="61615c"/>
                </a:solidFill>
                <a:effectLst/>
                <a:uFillTx/>
                <a:latin typeface="Tomorrow"/>
                <a:ea typeface="Tomorrow"/>
              </a:rPr>
              <a:t>, y sus permisos se </a:t>
            </a:r>
            <a:r>
              <a:rPr b="1" lang="en-US" sz="1250" strike="noStrike" u="none">
                <a:solidFill>
                  <a:srgbClr val="61615c"/>
                </a:solidFill>
                <a:effectLst/>
                <a:uFillTx/>
                <a:latin typeface="Tomorrow"/>
                <a:ea typeface="Tomorrow"/>
              </a:rPr>
              <a:t>acumulan</a:t>
            </a:r>
            <a:r>
              <a:rPr b="0" lang="en-US" sz="1250" strike="noStrike" u="none">
                <a:solidFill>
                  <a:srgbClr val="61615c"/>
                </a:solidFill>
                <a:effectLst/>
                <a:uFillTx/>
                <a:latin typeface="Tomorrow"/>
                <a:ea typeface="Tomorrow"/>
              </a:rPr>
              <a:t>. Esta funcionalidad permite crear perfiles multifuncionales sin duplicar roles ni comprometer la seguridad.</a:t>
            </a:r>
            <a:endParaRPr b="0" lang="en-US" sz="1250" strike="noStrike" u="none">
              <a:solidFill>
                <a:srgbClr val="000000"/>
              </a:solidFill>
              <a:effectLst/>
              <a:uFillTx/>
              <a:latin typeface="Arial"/>
            </a:endParaRPr>
          </a:p>
        </p:txBody>
      </p:sp>
      <p:sp>
        <p:nvSpPr>
          <p:cNvPr id="180" name="Text 5"/>
          <p:cNvSpPr/>
          <p:nvPr/>
        </p:nvSpPr>
        <p:spPr>
          <a:xfrm>
            <a:off x="645120" y="4152960"/>
            <a:ext cx="2787480" cy="2516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0" lang="en-US" sz="1550" strike="noStrike" u="none">
                <a:solidFill>
                  <a:srgbClr val="1d1d1b"/>
                </a:solidFill>
                <a:effectLst/>
                <a:uFillTx/>
                <a:latin typeface="Tomorrow Semi Bold"/>
                <a:ea typeface="Tomorrow Semi Bold"/>
              </a:rPr>
              <a:t>Ejemplo Real: María Gómez</a:t>
            </a:r>
            <a:endParaRPr b="0" lang="en-US" sz="1550" strike="noStrike" u="none">
              <a:solidFill>
                <a:srgbClr val="000000"/>
              </a:solidFill>
              <a:effectLst/>
              <a:uFillTx/>
              <a:latin typeface="Arial"/>
            </a:endParaRPr>
          </a:p>
        </p:txBody>
      </p:sp>
      <p:sp>
        <p:nvSpPr>
          <p:cNvPr id="181" name="Text 6"/>
          <p:cNvSpPr/>
          <p:nvPr/>
        </p:nvSpPr>
        <p:spPr>
          <a:xfrm>
            <a:off x="645120" y="4566240"/>
            <a:ext cx="3729960" cy="51552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b="1" lang="en-US" sz="1250" strike="noStrike" u="none">
                <a:solidFill>
                  <a:srgbClr val="61615c"/>
                </a:solidFill>
                <a:effectLst/>
                <a:uFillTx/>
                <a:latin typeface="Tomorrow"/>
                <a:ea typeface="Tomorrow"/>
              </a:rPr>
              <a:t>Rol 1:</a:t>
            </a:r>
            <a:r>
              <a:rPr b="0" lang="en-US" sz="1250" strike="noStrike" u="none">
                <a:solidFill>
                  <a:srgbClr val="61615c"/>
                </a:solidFill>
                <a:effectLst/>
                <a:uFillTx/>
                <a:latin typeface="Tomorrow"/>
                <a:ea typeface="Tomorrow"/>
              </a:rPr>
              <a:t> "Asistente de RRHH" → Puede ver y crear empleados</a:t>
            </a:r>
            <a:endParaRPr b="0" lang="en-US" sz="1250" strike="noStrike" u="none">
              <a:solidFill>
                <a:srgbClr val="000000"/>
              </a:solidFill>
              <a:effectLst/>
              <a:uFillTx/>
              <a:latin typeface="Arial"/>
            </a:endParaRPr>
          </a:p>
        </p:txBody>
      </p:sp>
      <p:sp>
        <p:nvSpPr>
          <p:cNvPr id="182" name="Text 7"/>
          <p:cNvSpPr/>
          <p:nvPr/>
        </p:nvSpPr>
        <p:spPr>
          <a:xfrm>
            <a:off x="645120" y="5138280"/>
            <a:ext cx="3729960" cy="51552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b="1" lang="en-US" sz="1250" strike="noStrike" u="none">
                <a:solidFill>
                  <a:srgbClr val="61615c"/>
                </a:solidFill>
                <a:effectLst/>
                <a:uFillTx/>
                <a:latin typeface="Tomorrow"/>
                <a:ea typeface="Tomorrow"/>
              </a:rPr>
              <a:t>Rol 2:</a:t>
            </a:r>
            <a:r>
              <a:rPr b="0" lang="en-US" sz="1250" strike="noStrike" u="none">
                <a:solidFill>
                  <a:srgbClr val="61615c"/>
                </a:solidFill>
                <a:effectLst/>
                <a:uFillTx/>
                <a:latin typeface="Tomorrow"/>
                <a:ea typeface="Tomorrow"/>
              </a:rPr>
              <a:t> "Auditor Financiero" → Puede ver reportes de nómina</a:t>
            </a:r>
            <a:endParaRPr b="0" lang="en-US" sz="1250" strike="noStrike" u="none">
              <a:solidFill>
                <a:srgbClr val="000000"/>
              </a:solidFill>
              <a:effectLst/>
              <a:uFillTx/>
              <a:latin typeface="Arial"/>
            </a:endParaRPr>
          </a:p>
        </p:txBody>
      </p:sp>
      <p:sp>
        <p:nvSpPr>
          <p:cNvPr id="183" name="Text 8"/>
          <p:cNvSpPr/>
          <p:nvPr/>
        </p:nvSpPr>
        <p:spPr>
          <a:xfrm>
            <a:off x="4776480" y="2239200"/>
            <a:ext cx="3729960" cy="6040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900" strike="noStrike" u="none">
                <a:solidFill>
                  <a:srgbClr val="1d1d1b"/>
                </a:solidFill>
                <a:effectLst/>
                <a:uFillTx/>
                <a:latin typeface="Tomorrow Semi Bold"/>
                <a:ea typeface="Tomorrow Semi Bold"/>
              </a:rPr>
              <a:t>Resultado de Permisos Acumulados</a:t>
            </a:r>
            <a:endParaRPr b="0" lang="en-US" sz="1900" strike="noStrike" u="none">
              <a:solidFill>
                <a:srgbClr val="000000"/>
              </a:solidFill>
              <a:effectLst/>
              <a:uFillTx/>
              <a:latin typeface="Arial"/>
            </a:endParaRPr>
          </a:p>
        </p:txBody>
      </p:sp>
      <p:sp>
        <p:nvSpPr>
          <p:cNvPr id="184" name="Shape 9"/>
          <p:cNvSpPr/>
          <p:nvPr/>
        </p:nvSpPr>
        <p:spPr>
          <a:xfrm>
            <a:off x="4776480" y="3110400"/>
            <a:ext cx="80280" cy="80280"/>
          </a:xfrm>
          <a:prstGeom prst="roundRect">
            <a:avLst>
              <a:gd name="adj" fmla="val 567210"/>
            </a:avLst>
          </a:prstGeom>
          <a:solidFill>
            <a:srgbClr val="1d1d1b"/>
          </a:solidFill>
          <a:ln w="0">
            <a:noFill/>
          </a:ln>
        </p:spPr>
        <p:style>
          <a:lnRef idx="0"/>
          <a:fillRef idx="0"/>
          <a:effectRef idx="0"/>
          <a:fontRef idx="minor"/>
        </p:style>
        <p:txBody>
          <a:bodyPr lIns="90000" rIns="90000" tIns="12240" bIns="12240" anchor="t">
            <a:noAutofit/>
          </a:bodyPr>
          <a:p>
            <a:endParaRPr b="0" lang="en-US" sz="1800" strike="noStrike" u="none">
              <a:solidFill>
                <a:srgbClr val="ffffff"/>
              </a:solidFill>
              <a:effectLst/>
              <a:uFillTx/>
              <a:latin typeface="Arial"/>
            </a:endParaRPr>
          </a:p>
        </p:txBody>
      </p:sp>
      <p:sp>
        <p:nvSpPr>
          <p:cNvPr id="185" name="Text 10"/>
          <p:cNvSpPr/>
          <p:nvPr/>
        </p:nvSpPr>
        <p:spPr>
          <a:xfrm>
            <a:off x="5018040" y="3024720"/>
            <a:ext cx="2015280" cy="2516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0" lang="en-US" sz="1550" strike="noStrike" u="none">
                <a:solidFill>
                  <a:srgbClr val="61615c"/>
                </a:solidFill>
                <a:effectLst/>
                <a:uFillTx/>
                <a:latin typeface="Tomorrow Semi Bold"/>
                <a:ea typeface="Tomorrow Semi Bold"/>
              </a:rPr>
              <a:t>Ver empleados</a:t>
            </a:r>
            <a:endParaRPr b="0" lang="en-US" sz="1550" strike="noStrike" u="none">
              <a:solidFill>
                <a:srgbClr val="000000"/>
              </a:solidFill>
              <a:effectLst/>
              <a:uFillTx/>
              <a:latin typeface="Arial"/>
            </a:endParaRPr>
          </a:p>
        </p:txBody>
      </p:sp>
      <p:sp>
        <p:nvSpPr>
          <p:cNvPr id="186" name="Text 11"/>
          <p:cNvSpPr/>
          <p:nvPr/>
        </p:nvSpPr>
        <p:spPr>
          <a:xfrm>
            <a:off x="5018040" y="3438000"/>
            <a:ext cx="3488040" cy="25740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250" strike="noStrike" u="none">
                <a:solidFill>
                  <a:srgbClr val="61615c"/>
                </a:solidFill>
                <a:effectLst/>
                <a:uFillTx/>
                <a:latin typeface="Tomorrow"/>
                <a:ea typeface="Tomorrow"/>
              </a:rPr>
              <a:t>Heredado de Asistente de RRHH</a:t>
            </a:r>
            <a:endParaRPr b="0" lang="en-US" sz="1250" strike="noStrike" u="none">
              <a:solidFill>
                <a:srgbClr val="000000"/>
              </a:solidFill>
              <a:effectLst/>
              <a:uFillTx/>
              <a:latin typeface="Arial"/>
            </a:endParaRPr>
          </a:p>
        </p:txBody>
      </p:sp>
      <p:sp>
        <p:nvSpPr>
          <p:cNvPr id="187" name="Shape 12"/>
          <p:cNvSpPr/>
          <p:nvPr/>
        </p:nvSpPr>
        <p:spPr>
          <a:xfrm>
            <a:off x="4776480" y="4104000"/>
            <a:ext cx="80280" cy="80280"/>
          </a:xfrm>
          <a:prstGeom prst="roundRect">
            <a:avLst>
              <a:gd name="adj" fmla="val 567210"/>
            </a:avLst>
          </a:prstGeom>
          <a:solidFill>
            <a:srgbClr val="1d1d1b"/>
          </a:solidFill>
          <a:ln w="0">
            <a:noFill/>
          </a:ln>
        </p:spPr>
        <p:style>
          <a:lnRef idx="0"/>
          <a:fillRef idx="0"/>
          <a:effectRef idx="0"/>
          <a:fontRef idx="minor"/>
        </p:style>
        <p:txBody>
          <a:bodyPr lIns="90000" rIns="90000" tIns="12240" bIns="12240" anchor="t">
            <a:noAutofit/>
          </a:bodyPr>
          <a:p>
            <a:endParaRPr b="0" lang="en-US" sz="1800" strike="noStrike" u="none">
              <a:solidFill>
                <a:srgbClr val="ffffff"/>
              </a:solidFill>
              <a:effectLst/>
              <a:uFillTx/>
              <a:latin typeface="Arial"/>
            </a:endParaRPr>
          </a:p>
        </p:txBody>
      </p:sp>
      <p:sp>
        <p:nvSpPr>
          <p:cNvPr id="188" name="Text 13"/>
          <p:cNvSpPr/>
          <p:nvPr/>
        </p:nvSpPr>
        <p:spPr>
          <a:xfrm>
            <a:off x="5018040" y="4018320"/>
            <a:ext cx="2015280" cy="2516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0" lang="en-US" sz="1550" strike="noStrike" u="none">
                <a:solidFill>
                  <a:srgbClr val="61615c"/>
                </a:solidFill>
                <a:effectLst/>
                <a:uFillTx/>
                <a:latin typeface="Tomorrow Semi Bold"/>
                <a:ea typeface="Tomorrow Semi Bold"/>
              </a:rPr>
              <a:t>Crear empleados</a:t>
            </a:r>
            <a:endParaRPr b="0" lang="en-US" sz="1550" strike="noStrike" u="none">
              <a:solidFill>
                <a:srgbClr val="000000"/>
              </a:solidFill>
              <a:effectLst/>
              <a:uFillTx/>
              <a:latin typeface="Arial"/>
            </a:endParaRPr>
          </a:p>
        </p:txBody>
      </p:sp>
      <p:sp>
        <p:nvSpPr>
          <p:cNvPr id="189" name="Text 14"/>
          <p:cNvSpPr/>
          <p:nvPr/>
        </p:nvSpPr>
        <p:spPr>
          <a:xfrm>
            <a:off x="5018040" y="4431240"/>
            <a:ext cx="3488040" cy="25740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250" strike="noStrike" u="none">
                <a:solidFill>
                  <a:srgbClr val="61615c"/>
                </a:solidFill>
                <a:effectLst/>
                <a:uFillTx/>
                <a:latin typeface="Tomorrow"/>
                <a:ea typeface="Tomorrow"/>
              </a:rPr>
              <a:t>Heredado de Asistente de RRHH</a:t>
            </a:r>
            <a:endParaRPr b="0" lang="en-US" sz="1250" strike="noStrike" u="none">
              <a:solidFill>
                <a:srgbClr val="000000"/>
              </a:solidFill>
              <a:effectLst/>
              <a:uFillTx/>
              <a:latin typeface="Arial"/>
            </a:endParaRPr>
          </a:p>
        </p:txBody>
      </p:sp>
      <p:sp>
        <p:nvSpPr>
          <p:cNvPr id="190" name="Shape 15"/>
          <p:cNvSpPr/>
          <p:nvPr/>
        </p:nvSpPr>
        <p:spPr>
          <a:xfrm>
            <a:off x="4776480" y="5097240"/>
            <a:ext cx="80280" cy="80280"/>
          </a:xfrm>
          <a:prstGeom prst="roundRect">
            <a:avLst>
              <a:gd name="adj" fmla="val 567210"/>
            </a:avLst>
          </a:prstGeom>
          <a:solidFill>
            <a:srgbClr val="1d1d1b"/>
          </a:solidFill>
          <a:ln w="0">
            <a:noFill/>
          </a:ln>
        </p:spPr>
        <p:style>
          <a:lnRef idx="0"/>
          <a:fillRef idx="0"/>
          <a:effectRef idx="0"/>
          <a:fontRef idx="minor"/>
        </p:style>
        <p:txBody>
          <a:bodyPr lIns="90000" rIns="90000" tIns="12240" bIns="12240" anchor="t">
            <a:noAutofit/>
          </a:bodyPr>
          <a:p>
            <a:endParaRPr b="0" lang="en-US" sz="1800" strike="noStrike" u="none">
              <a:solidFill>
                <a:srgbClr val="ffffff"/>
              </a:solidFill>
              <a:effectLst/>
              <a:uFillTx/>
              <a:latin typeface="Arial"/>
            </a:endParaRPr>
          </a:p>
        </p:txBody>
      </p:sp>
      <p:sp>
        <p:nvSpPr>
          <p:cNvPr id="191" name="Text 16"/>
          <p:cNvSpPr/>
          <p:nvPr/>
        </p:nvSpPr>
        <p:spPr>
          <a:xfrm>
            <a:off x="5018040" y="5011560"/>
            <a:ext cx="2399760" cy="2516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0" lang="en-US" sz="1550" strike="noStrike" u="none">
                <a:solidFill>
                  <a:srgbClr val="61615c"/>
                </a:solidFill>
                <a:effectLst/>
                <a:uFillTx/>
                <a:latin typeface="Tomorrow Semi Bold"/>
                <a:ea typeface="Tomorrow Semi Bold"/>
              </a:rPr>
              <a:t>Ver reportes de nómina</a:t>
            </a:r>
            <a:endParaRPr b="0" lang="en-US" sz="1550" strike="noStrike" u="none">
              <a:solidFill>
                <a:srgbClr val="000000"/>
              </a:solidFill>
              <a:effectLst/>
              <a:uFillTx/>
              <a:latin typeface="Arial"/>
            </a:endParaRPr>
          </a:p>
        </p:txBody>
      </p:sp>
      <p:sp>
        <p:nvSpPr>
          <p:cNvPr id="192" name="Text 17"/>
          <p:cNvSpPr/>
          <p:nvPr/>
        </p:nvSpPr>
        <p:spPr>
          <a:xfrm>
            <a:off x="5018040" y="5424840"/>
            <a:ext cx="3488040" cy="25740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250" strike="noStrike" u="none">
                <a:solidFill>
                  <a:srgbClr val="61615c"/>
                </a:solidFill>
                <a:effectLst/>
                <a:uFillTx/>
                <a:latin typeface="Tomorrow"/>
                <a:ea typeface="Tomorrow"/>
              </a:rPr>
              <a:t>Heredado de Auditor Financiero</a:t>
            </a:r>
            <a:endParaRPr b="0" lang="en-US" sz="1250" strike="noStrike" u="none">
              <a:solidFill>
                <a:srgbClr val="000000"/>
              </a:solidFill>
              <a:effectLst/>
              <a:uFillTx/>
              <a:latin typeface="Arial"/>
            </a:endParaRPr>
          </a:p>
        </p:txBody>
      </p:sp>
      <p:sp>
        <p:nvSpPr>
          <p:cNvPr id="193" name="Shape 18"/>
          <p:cNvSpPr/>
          <p:nvPr/>
        </p:nvSpPr>
        <p:spPr>
          <a:xfrm>
            <a:off x="4776480" y="6090840"/>
            <a:ext cx="80280" cy="80280"/>
          </a:xfrm>
          <a:prstGeom prst="roundRect">
            <a:avLst>
              <a:gd name="adj" fmla="val 567210"/>
            </a:avLst>
          </a:prstGeom>
          <a:solidFill>
            <a:srgbClr val="1d1d1b"/>
          </a:solidFill>
          <a:ln w="0">
            <a:noFill/>
          </a:ln>
        </p:spPr>
        <p:style>
          <a:lnRef idx="0"/>
          <a:fillRef idx="0"/>
          <a:effectRef idx="0"/>
          <a:fontRef idx="minor"/>
        </p:style>
        <p:txBody>
          <a:bodyPr lIns="90000" rIns="90000" tIns="12240" bIns="12240" anchor="t">
            <a:noAutofit/>
          </a:bodyPr>
          <a:p>
            <a:endParaRPr b="0" lang="en-US" sz="1800" strike="noStrike" u="none">
              <a:solidFill>
                <a:srgbClr val="ffffff"/>
              </a:solidFill>
              <a:effectLst/>
              <a:uFillTx/>
              <a:latin typeface="Arial"/>
            </a:endParaRPr>
          </a:p>
        </p:txBody>
      </p:sp>
      <p:sp>
        <p:nvSpPr>
          <p:cNvPr id="194" name="Text 19"/>
          <p:cNvSpPr/>
          <p:nvPr/>
        </p:nvSpPr>
        <p:spPr>
          <a:xfrm>
            <a:off x="5018040" y="6005160"/>
            <a:ext cx="2015280" cy="25920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0" lang="en-US" sz="1550" strike="noStrike" u="none">
                <a:solidFill>
                  <a:srgbClr val="000000"/>
                </a:solidFill>
                <a:effectLst/>
                <a:uFillTx/>
                <a:latin typeface="Tomorrow Semi Bold"/>
                <a:ea typeface="Tomorrow Semi Bold"/>
              </a:rPr>
              <a:t>❌</a:t>
            </a:r>
            <a:r>
              <a:rPr b="0" lang="en-US" sz="1550" strike="noStrike" u="none">
                <a:solidFill>
                  <a:srgbClr val="61615c"/>
                </a:solidFill>
                <a:effectLst/>
                <a:uFillTx/>
                <a:latin typeface="Tomorrow Semi Bold"/>
                <a:ea typeface="Tomorrow Semi Bold"/>
              </a:rPr>
              <a:t> Editar nómina</a:t>
            </a:r>
            <a:endParaRPr b="0" lang="en-US" sz="1550" strike="noStrike" u="none">
              <a:solidFill>
                <a:srgbClr val="000000"/>
              </a:solidFill>
              <a:effectLst/>
              <a:uFillTx/>
              <a:latin typeface="Arial"/>
            </a:endParaRPr>
          </a:p>
        </p:txBody>
      </p:sp>
      <p:sp>
        <p:nvSpPr>
          <p:cNvPr id="195" name="Text 20"/>
          <p:cNvSpPr/>
          <p:nvPr/>
        </p:nvSpPr>
        <p:spPr>
          <a:xfrm>
            <a:off x="5018040" y="6426000"/>
            <a:ext cx="3488040" cy="25740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250" strike="noStrike" u="none">
                <a:solidFill>
                  <a:srgbClr val="61615c"/>
                </a:solidFill>
                <a:effectLst/>
                <a:uFillTx/>
                <a:latin typeface="Tomorrow"/>
                <a:ea typeface="Tomorrow"/>
              </a:rPr>
              <a:t>No tiene este permiso en ningún rol</a:t>
            </a:r>
            <a:endParaRPr b="0" lang="en-US" sz="1250" strike="noStrike" u="none">
              <a:solidFill>
                <a:srgbClr val="000000"/>
              </a:solidFill>
              <a:effectLst/>
              <a:uFillTx/>
              <a:latin typeface="Arial"/>
            </a:endParaRPr>
          </a:p>
        </p:txBody>
      </p:sp>
      <p:sp>
        <p:nvSpPr>
          <p:cNvPr id="196" name="Text 21"/>
          <p:cNvSpPr/>
          <p:nvPr/>
        </p:nvSpPr>
        <p:spPr>
          <a:xfrm>
            <a:off x="4776480" y="6865200"/>
            <a:ext cx="3729960" cy="77328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b="1" lang="en-US" sz="1250" strike="noStrike" u="none">
                <a:solidFill>
                  <a:srgbClr val="61615c"/>
                </a:solidFill>
                <a:effectLst/>
                <a:uFillTx/>
                <a:latin typeface="Tomorrow"/>
                <a:ea typeface="Tomorrow"/>
              </a:rPr>
              <a:t>Beneficio:</a:t>
            </a:r>
            <a:r>
              <a:rPr b="0" lang="en-US" sz="1250" strike="noStrike" u="none">
                <a:solidFill>
                  <a:srgbClr val="61615c"/>
                </a:solidFill>
                <a:effectLst/>
                <a:uFillTx/>
                <a:latin typeface="Tomorrow"/>
                <a:ea typeface="Tomorrow"/>
              </a:rPr>
              <a:t> Mayor flexibilidad organizacional para perfiles que atraviesan departamentos sin crear roles híbridos complejos.</a:t>
            </a:r>
            <a:endParaRPr b="0" lang="en-US"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Shape 0"/>
          <p:cNvSpPr/>
          <p:nvPr/>
        </p:nvSpPr>
        <p:spPr>
          <a:xfrm>
            <a:off x="767520" y="527760"/>
            <a:ext cx="1101960" cy="360000"/>
          </a:xfrm>
          <a:prstGeom prst="roundRect">
            <a:avLst>
              <a:gd name="adj" fmla="val 6387"/>
            </a:avLst>
          </a:prstGeom>
          <a:solidFill>
            <a:srgbClr val="e6e6e5"/>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8" name="Text 1"/>
          <p:cNvSpPr/>
          <p:nvPr/>
        </p:nvSpPr>
        <p:spPr>
          <a:xfrm>
            <a:off x="882720" y="585360"/>
            <a:ext cx="871560" cy="24516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0" lang="en-US" sz="1200" strike="noStrike" u="none">
                <a:solidFill>
                  <a:srgbClr val="61615c"/>
                </a:solidFill>
                <a:effectLst/>
                <a:uFillTx/>
                <a:latin typeface="Tomorrow"/>
                <a:ea typeface="Tomorrow"/>
              </a:rPr>
              <a:t>CAPÍTULO 2</a:t>
            </a:r>
            <a:endParaRPr b="0" lang="en-US" sz="1200" strike="noStrike" u="none">
              <a:solidFill>
                <a:srgbClr val="000000"/>
              </a:solidFill>
              <a:effectLst/>
              <a:uFillTx/>
              <a:latin typeface="Arial"/>
            </a:endParaRPr>
          </a:p>
        </p:txBody>
      </p:sp>
      <p:sp>
        <p:nvSpPr>
          <p:cNvPr id="199" name="Text 2"/>
          <p:cNvSpPr/>
          <p:nvPr/>
        </p:nvSpPr>
        <p:spPr>
          <a:xfrm>
            <a:off x="767520" y="964800"/>
            <a:ext cx="10733400" cy="599400"/>
          </a:xfrm>
          <a:prstGeom prst="rect">
            <a:avLst/>
          </a:prstGeom>
          <a:noFill/>
          <a:ln w="0">
            <a:noFill/>
          </a:ln>
        </p:spPr>
        <p:style>
          <a:lnRef idx="0"/>
          <a:fillRef idx="0"/>
          <a:effectRef idx="0"/>
          <a:fontRef idx="minor"/>
        </p:style>
        <p:txBody>
          <a:bodyPr wrap="none" lIns="0" rIns="0" tIns="0" bIns="0" anchor="t">
            <a:noAutofit/>
          </a:bodyPr>
          <a:p>
            <a:pPr>
              <a:lnSpc>
                <a:spcPts val="4700"/>
              </a:lnSpc>
              <a:tabLst>
                <a:tab algn="l" pos="0"/>
              </a:tabLst>
            </a:pPr>
            <a:r>
              <a:rPr b="0" lang="en-US" sz="3750" strike="noStrike" u="none">
                <a:solidFill>
                  <a:srgbClr val="1d1d1b"/>
                </a:solidFill>
                <a:effectLst/>
                <a:uFillTx/>
                <a:latin typeface="Tomorrow Semi Bold"/>
                <a:ea typeface="Tomorrow Semi Bold"/>
              </a:rPr>
              <a:t>Gestión de Roles: Creación y Administración</a:t>
            </a:r>
            <a:endParaRPr b="0" lang="en-US" sz="3750" strike="noStrike" u="none">
              <a:solidFill>
                <a:srgbClr val="000000"/>
              </a:solidFill>
              <a:effectLst/>
              <a:uFillTx/>
              <a:latin typeface="Arial"/>
            </a:endParaRPr>
          </a:p>
        </p:txBody>
      </p:sp>
      <p:sp>
        <p:nvSpPr>
          <p:cNvPr id="200" name="Text 3"/>
          <p:cNvSpPr/>
          <p:nvPr/>
        </p:nvSpPr>
        <p:spPr>
          <a:xfrm>
            <a:off x="767520" y="1641240"/>
            <a:ext cx="4521600" cy="359280"/>
          </a:xfrm>
          <a:prstGeom prst="rect">
            <a:avLst/>
          </a:prstGeom>
          <a:noFill/>
          <a:ln w="0">
            <a:noFill/>
          </a:ln>
        </p:spPr>
        <p:style>
          <a:lnRef idx="0"/>
          <a:fillRef idx="0"/>
          <a:effectRef idx="0"/>
          <a:fontRef idx="minor"/>
        </p:style>
        <p:txBody>
          <a:bodyPr wrap="none" lIns="0" rIns="0" tIns="0" bIns="0" anchor="t">
            <a:noAutofit/>
          </a:bodyPr>
          <a:p>
            <a:pPr>
              <a:lnSpc>
                <a:spcPts val="2801"/>
              </a:lnSpc>
              <a:tabLst>
                <a:tab algn="l" pos="0"/>
              </a:tabLst>
            </a:pPr>
            <a:r>
              <a:rPr b="0" lang="en-US" sz="2250" strike="noStrike" u="none">
                <a:solidFill>
                  <a:srgbClr val="1d1d1b"/>
                </a:solidFill>
                <a:effectLst/>
                <a:uFillTx/>
                <a:latin typeface="Tomorrow Semi Bold"/>
                <a:ea typeface="Tomorrow Semi Bold"/>
              </a:rPr>
              <a:t>Roles Predefinidos del Sistema</a:t>
            </a:r>
            <a:endParaRPr b="0" lang="en-US" sz="2250" strike="noStrike" u="none">
              <a:solidFill>
                <a:srgbClr val="000000"/>
              </a:solidFill>
              <a:effectLst/>
              <a:uFillTx/>
              <a:latin typeface="Arial"/>
            </a:endParaRPr>
          </a:p>
        </p:txBody>
      </p:sp>
      <p:sp>
        <p:nvSpPr>
          <p:cNvPr id="201" name="Text 4"/>
          <p:cNvSpPr/>
          <p:nvPr/>
        </p:nvSpPr>
        <p:spPr>
          <a:xfrm>
            <a:off x="767520" y="2288880"/>
            <a:ext cx="13095000" cy="613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La plataforma incluye roles base que puede usar directamente o personalizar según sus necesidades organizacionales. Estos roles cubren los casos de uso más comunes y sirven como plantillas para crear roles personalizados.</a:t>
            </a:r>
            <a:endParaRPr b="0" lang="en-US" sz="1500" strike="noStrike" u="none">
              <a:solidFill>
                <a:srgbClr val="000000"/>
              </a:solidFill>
              <a:effectLst/>
              <a:uFillTx/>
              <a:latin typeface="Arial"/>
            </a:endParaRPr>
          </a:p>
        </p:txBody>
      </p:sp>
      <p:sp>
        <p:nvSpPr>
          <p:cNvPr id="202" name="Shape 5"/>
          <p:cNvSpPr/>
          <p:nvPr/>
        </p:nvSpPr>
        <p:spPr>
          <a:xfrm>
            <a:off x="767520" y="3118680"/>
            <a:ext cx="13095000" cy="4588920"/>
          </a:xfrm>
          <a:prstGeom prst="roundRect">
            <a:avLst>
              <a:gd name="adj" fmla="val 627"/>
            </a:avLst>
          </a:prstGeom>
          <a:noFill/>
          <a:ln w="7620">
            <a:solidFill>
              <a:srgbClr val="000000">
                <a:alpha val="8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3" name="Shape 6"/>
          <p:cNvSpPr/>
          <p:nvPr/>
        </p:nvSpPr>
        <p:spPr>
          <a:xfrm>
            <a:off x="775080" y="3126240"/>
            <a:ext cx="13079520" cy="55224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4" name="Text 7"/>
          <p:cNvSpPr/>
          <p:nvPr/>
        </p:nvSpPr>
        <p:spPr>
          <a:xfrm>
            <a:off x="967320" y="3249000"/>
            <a:ext cx="22280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500" strike="noStrike" u="none">
                <a:solidFill>
                  <a:srgbClr val="61615c"/>
                </a:solidFill>
                <a:effectLst/>
                <a:uFillTx/>
                <a:latin typeface="Tomorrow"/>
                <a:ea typeface="Tomorrow"/>
              </a:rPr>
              <a:t>Rol</a:t>
            </a:r>
            <a:endParaRPr b="0" lang="en-US" sz="1500" strike="noStrike" u="none">
              <a:solidFill>
                <a:srgbClr val="000000"/>
              </a:solidFill>
              <a:effectLst/>
              <a:uFillTx/>
              <a:latin typeface="Arial"/>
            </a:endParaRPr>
          </a:p>
        </p:txBody>
      </p:sp>
      <p:sp>
        <p:nvSpPr>
          <p:cNvPr id="205" name="Text 8"/>
          <p:cNvSpPr/>
          <p:nvPr/>
        </p:nvSpPr>
        <p:spPr>
          <a:xfrm>
            <a:off x="3587040" y="3249000"/>
            <a:ext cx="353232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500" strike="noStrike" u="none">
                <a:solidFill>
                  <a:srgbClr val="61615c"/>
                </a:solidFill>
                <a:effectLst/>
                <a:uFillTx/>
                <a:latin typeface="Tomorrow"/>
                <a:ea typeface="Tomorrow"/>
              </a:rPr>
              <a:t>Descripción</a:t>
            </a:r>
            <a:endParaRPr b="0" lang="en-US" sz="1500" strike="noStrike" u="none">
              <a:solidFill>
                <a:srgbClr val="000000"/>
              </a:solidFill>
              <a:effectLst/>
              <a:uFillTx/>
              <a:latin typeface="Arial"/>
            </a:endParaRPr>
          </a:p>
        </p:txBody>
      </p:sp>
      <p:sp>
        <p:nvSpPr>
          <p:cNvPr id="206" name="Text 9"/>
          <p:cNvSpPr/>
          <p:nvPr/>
        </p:nvSpPr>
        <p:spPr>
          <a:xfrm>
            <a:off x="7511040" y="3249000"/>
            <a:ext cx="41864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500" strike="noStrike" u="none">
                <a:solidFill>
                  <a:srgbClr val="61615c"/>
                </a:solidFill>
                <a:effectLst/>
                <a:uFillTx/>
                <a:latin typeface="Tomorrow"/>
                <a:ea typeface="Tomorrow"/>
              </a:rPr>
              <a:t>Permisos Típicos</a:t>
            </a:r>
            <a:endParaRPr b="0" lang="en-US" sz="1500" strike="noStrike" u="none">
              <a:solidFill>
                <a:srgbClr val="000000"/>
              </a:solidFill>
              <a:effectLst/>
              <a:uFillTx/>
              <a:latin typeface="Arial"/>
            </a:endParaRPr>
          </a:p>
        </p:txBody>
      </p:sp>
      <p:sp>
        <p:nvSpPr>
          <p:cNvPr id="207" name="Text 10"/>
          <p:cNvSpPr/>
          <p:nvPr/>
        </p:nvSpPr>
        <p:spPr>
          <a:xfrm>
            <a:off x="12088800" y="3249000"/>
            <a:ext cx="157428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500" strike="noStrike" u="none">
                <a:solidFill>
                  <a:srgbClr val="61615c"/>
                </a:solidFill>
                <a:effectLst/>
                <a:uFillTx/>
                <a:latin typeface="Tomorrow"/>
                <a:ea typeface="Tomorrow"/>
              </a:rPr>
              <a:t>¿Modificable?</a:t>
            </a:r>
            <a:endParaRPr b="0" lang="en-US" sz="1500" strike="noStrike" u="none">
              <a:solidFill>
                <a:srgbClr val="000000"/>
              </a:solidFill>
              <a:effectLst/>
              <a:uFillTx/>
              <a:latin typeface="Arial"/>
            </a:endParaRPr>
          </a:p>
        </p:txBody>
      </p:sp>
      <p:sp>
        <p:nvSpPr>
          <p:cNvPr id="208" name="Shape 11"/>
          <p:cNvSpPr/>
          <p:nvPr/>
        </p:nvSpPr>
        <p:spPr>
          <a:xfrm>
            <a:off x="775080" y="3678840"/>
            <a:ext cx="13079520" cy="87444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9" name="Text 12"/>
          <p:cNvSpPr/>
          <p:nvPr/>
        </p:nvSpPr>
        <p:spPr>
          <a:xfrm>
            <a:off x="967320" y="3801600"/>
            <a:ext cx="22280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Administrador Root</a:t>
            </a:r>
            <a:endParaRPr b="0" lang="en-US" sz="1500" strike="noStrike" u="none">
              <a:solidFill>
                <a:srgbClr val="000000"/>
              </a:solidFill>
              <a:effectLst/>
              <a:uFillTx/>
              <a:latin typeface="Arial"/>
            </a:endParaRPr>
          </a:p>
        </p:txBody>
      </p:sp>
      <p:sp>
        <p:nvSpPr>
          <p:cNvPr id="210" name="Text 13"/>
          <p:cNvSpPr/>
          <p:nvPr/>
        </p:nvSpPr>
        <p:spPr>
          <a:xfrm>
            <a:off x="3587040" y="3801600"/>
            <a:ext cx="3532320" cy="613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Super usuario del sistema con control absoluto</a:t>
            </a:r>
            <a:endParaRPr b="0" lang="en-US" sz="1500" strike="noStrike" u="none">
              <a:solidFill>
                <a:srgbClr val="000000"/>
              </a:solidFill>
              <a:effectLst/>
              <a:uFillTx/>
              <a:latin typeface="Arial"/>
            </a:endParaRPr>
          </a:p>
        </p:txBody>
      </p:sp>
      <p:sp>
        <p:nvSpPr>
          <p:cNvPr id="211" name="Text 14"/>
          <p:cNvSpPr/>
          <p:nvPr/>
        </p:nvSpPr>
        <p:spPr>
          <a:xfrm>
            <a:off x="7511040" y="3801600"/>
            <a:ext cx="41864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TODOS los permisos disponibles</a:t>
            </a:r>
            <a:endParaRPr b="0" lang="en-US" sz="1500" strike="noStrike" u="none">
              <a:solidFill>
                <a:srgbClr val="000000"/>
              </a:solidFill>
              <a:effectLst/>
              <a:uFillTx/>
              <a:latin typeface="Arial"/>
            </a:endParaRPr>
          </a:p>
        </p:txBody>
      </p:sp>
      <p:sp>
        <p:nvSpPr>
          <p:cNvPr id="212" name="Text 15"/>
          <p:cNvSpPr/>
          <p:nvPr/>
        </p:nvSpPr>
        <p:spPr>
          <a:xfrm>
            <a:off x="12088800" y="3801600"/>
            <a:ext cx="1574280" cy="62892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000000"/>
                </a:solidFill>
                <a:effectLst/>
                <a:uFillTx/>
                <a:latin typeface="Tomorrow"/>
                <a:ea typeface="Tomorrow"/>
              </a:rPr>
              <a:t>❌</a:t>
            </a:r>
            <a:r>
              <a:rPr b="0" lang="en-US" sz="1500" strike="noStrike" u="none">
                <a:solidFill>
                  <a:srgbClr val="61615c"/>
                </a:solidFill>
                <a:effectLst/>
                <a:uFillTx/>
                <a:latin typeface="Tomorrow"/>
                <a:ea typeface="Tomorrow"/>
              </a:rPr>
              <a:t> No (Protegido)</a:t>
            </a:r>
            <a:endParaRPr b="0" lang="en-US" sz="1500" strike="noStrike" u="none">
              <a:solidFill>
                <a:srgbClr val="000000"/>
              </a:solidFill>
              <a:effectLst/>
              <a:uFillTx/>
              <a:latin typeface="Arial"/>
            </a:endParaRPr>
          </a:p>
        </p:txBody>
      </p:sp>
      <p:sp>
        <p:nvSpPr>
          <p:cNvPr id="213" name="Shape 16"/>
          <p:cNvSpPr/>
          <p:nvPr/>
        </p:nvSpPr>
        <p:spPr>
          <a:xfrm>
            <a:off x="775080" y="4553640"/>
            <a:ext cx="13079520" cy="85932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4" name="Text 17"/>
          <p:cNvSpPr/>
          <p:nvPr/>
        </p:nvSpPr>
        <p:spPr>
          <a:xfrm>
            <a:off x="967320" y="4676400"/>
            <a:ext cx="2228040" cy="613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Administrador de Empresa</a:t>
            </a:r>
            <a:endParaRPr b="0" lang="en-US" sz="1500" strike="noStrike" u="none">
              <a:solidFill>
                <a:srgbClr val="000000"/>
              </a:solidFill>
              <a:effectLst/>
              <a:uFillTx/>
              <a:latin typeface="Arial"/>
            </a:endParaRPr>
          </a:p>
        </p:txBody>
      </p:sp>
      <p:sp>
        <p:nvSpPr>
          <p:cNvPr id="215" name="Text 18"/>
          <p:cNvSpPr/>
          <p:nvPr/>
        </p:nvSpPr>
        <p:spPr>
          <a:xfrm>
            <a:off x="3587040" y="4676400"/>
            <a:ext cx="3532320" cy="613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Control total de operaciones empresariales</a:t>
            </a:r>
            <a:endParaRPr b="0" lang="en-US" sz="1500" strike="noStrike" u="none">
              <a:solidFill>
                <a:srgbClr val="000000"/>
              </a:solidFill>
              <a:effectLst/>
              <a:uFillTx/>
              <a:latin typeface="Arial"/>
            </a:endParaRPr>
          </a:p>
        </p:txBody>
      </p:sp>
      <p:sp>
        <p:nvSpPr>
          <p:cNvPr id="216" name="Text 19"/>
          <p:cNvSpPr/>
          <p:nvPr/>
        </p:nvSpPr>
        <p:spPr>
          <a:xfrm>
            <a:off x="7511040" y="4676400"/>
            <a:ext cx="41864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Todos excepto configuración de sistema</a:t>
            </a:r>
            <a:endParaRPr b="0" lang="en-US" sz="1500" strike="noStrike" u="none">
              <a:solidFill>
                <a:srgbClr val="000000"/>
              </a:solidFill>
              <a:effectLst/>
              <a:uFillTx/>
              <a:latin typeface="Arial"/>
            </a:endParaRPr>
          </a:p>
        </p:txBody>
      </p:sp>
      <p:sp>
        <p:nvSpPr>
          <p:cNvPr id="217" name="Text 20"/>
          <p:cNvSpPr/>
          <p:nvPr/>
        </p:nvSpPr>
        <p:spPr>
          <a:xfrm>
            <a:off x="12088800" y="4676400"/>
            <a:ext cx="1574280" cy="3218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000000"/>
                </a:solidFill>
                <a:effectLst/>
                <a:uFillTx/>
                <a:latin typeface="Tomorrow"/>
                <a:ea typeface="Tomorrow"/>
              </a:rPr>
              <a:t>✅</a:t>
            </a:r>
            <a:r>
              <a:rPr b="0" lang="en-US" sz="1500" strike="noStrike" u="none">
                <a:solidFill>
                  <a:srgbClr val="61615c"/>
                </a:solidFill>
                <a:effectLst/>
                <a:uFillTx/>
                <a:latin typeface="Tomorrow"/>
                <a:ea typeface="Tomorrow"/>
              </a:rPr>
              <a:t> Sí</a:t>
            </a:r>
            <a:endParaRPr b="0" lang="en-US" sz="1500" strike="noStrike" u="none">
              <a:solidFill>
                <a:srgbClr val="000000"/>
              </a:solidFill>
              <a:effectLst/>
              <a:uFillTx/>
              <a:latin typeface="Arial"/>
            </a:endParaRPr>
          </a:p>
        </p:txBody>
      </p:sp>
      <p:sp>
        <p:nvSpPr>
          <p:cNvPr id="218" name="Shape 21"/>
          <p:cNvSpPr/>
          <p:nvPr/>
        </p:nvSpPr>
        <p:spPr>
          <a:xfrm>
            <a:off x="775080" y="5413320"/>
            <a:ext cx="13079520" cy="85932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9" name="Text 22"/>
          <p:cNvSpPr/>
          <p:nvPr/>
        </p:nvSpPr>
        <p:spPr>
          <a:xfrm>
            <a:off x="967320" y="5536080"/>
            <a:ext cx="22280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Gerente de RRHH</a:t>
            </a:r>
            <a:endParaRPr b="0" lang="en-US" sz="1500" strike="noStrike" u="none">
              <a:solidFill>
                <a:srgbClr val="000000"/>
              </a:solidFill>
              <a:effectLst/>
              <a:uFillTx/>
              <a:latin typeface="Arial"/>
            </a:endParaRPr>
          </a:p>
        </p:txBody>
      </p:sp>
      <p:sp>
        <p:nvSpPr>
          <p:cNvPr id="220" name="Text 23"/>
          <p:cNvSpPr/>
          <p:nvPr/>
        </p:nvSpPr>
        <p:spPr>
          <a:xfrm>
            <a:off x="3587040" y="5536080"/>
            <a:ext cx="3532320" cy="613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Gestión completa de recursos humanos</a:t>
            </a:r>
            <a:endParaRPr b="0" lang="en-US" sz="1500" strike="noStrike" u="none">
              <a:solidFill>
                <a:srgbClr val="000000"/>
              </a:solidFill>
              <a:effectLst/>
              <a:uFillTx/>
              <a:latin typeface="Arial"/>
            </a:endParaRPr>
          </a:p>
        </p:txBody>
      </p:sp>
      <p:sp>
        <p:nvSpPr>
          <p:cNvPr id="221" name="Text 24"/>
          <p:cNvSpPr/>
          <p:nvPr/>
        </p:nvSpPr>
        <p:spPr>
          <a:xfrm>
            <a:off x="7511040" y="5536080"/>
            <a:ext cx="41864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Ver, Crear, Editar empleados y nómina</a:t>
            </a:r>
            <a:endParaRPr b="0" lang="en-US" sz="1500" strike="noStrike" u="none">
              <a:solidFill>
                <a:srgbClr val="000000"/>
              </a:solidFill>
              <a:effectLst/>
              <a:uFillTx/>
              <a:latin typeface="Arial"/>
            </a:endParaRPr>
          </a:p>
        </p:txBody>
      </p:sp>
      <p:sp>
        <p:nvSpPr>
          <p:cNvPr id="222" name="Text 25"/>
          <p:cNvSpPr/>
          <p:nvPr/>
        </p:nvSpPr>
        <p:spPr>
          <a:xfrm>
            <a:off x="12088800" y="5536080"/>
            <a:ext cx="1574280" cy="3218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000000"/>
                </a:solidFill>
                <a:effectLst/>
                <a:uFillTx/>
                <a:latin typeface="Tomorrow"/>
                <a:ea typeface="Tomorrow"/>
              </a:rPr>
              <a:t>✅</a:t>
            </a:r>
            <a:r>
              <a:rPr b="0" lang="en-US" sz="1500" strike="noStrike" u="none">
                <a:solidFill>
                  <a:srgbClr val="61615c"/>
                </a:solidFill>
                <a:effectLst/>
                <a:uFillTx/>
                <a:latin typeface="Tomorrow"/>
                <a:ea typeface="Tomorrow"/>
              </a:rPr>
              <a:t> Sí</a:t>
            </a:r>
            <a:endParaRPr b="0" lang="en-US" sz="1500" strike="noStrike" u="none">
              <a:solidFill>
                <a:srgbClr val="000000"/>
              </a:solidFill>
              <a:effectLst/>
              <a:uFillTx/>
              <a:latin typeface="Arial"/>
            </a:endParaRPr>
          </a:p>
        </p:txBody>
      </p:sp>
      <p:sp>
        <p:nvSpPr>
          <p:cNvPr id="223" name="Shape 26"/>
          <p:cNvSpPr/>
          <p:nvPr/>
        </p:nvSpPr>
        <p:spPr>
          <a:xfrm>
            <a:off x="775080" y="6273000"/>
            <a:ext cx="13079520" cy="85932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4" name="Text 27"/>
          <p:cNvSpPr/>
          <p:nvPr/>
        </p:nvSpPr>
        <p:spPr>
          <a:xfrm>
            <a:off x="967320" y="6395760"/>
            <a:ext cx="22280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Auditor</a:t>
            </a:r>
            <a:endParaRPr b="0" lang="en-US" sz="1500" strike="noStrike" u="none">
              <a:solidFill>
                <a:srgbClr val="000000"/>
              </a:solidFill>
              <a:effectLst/>
              <a:uFillTx/>
              <a:latin typeface="Arial"/>
            </a:endParaRPr>
          </a:p>
        </p:txBody>
      </p:sp>
      <p:sp>
        <p:nvSpPr>
          <p:cNvPr id="225" name="Text 28"/>
          <p:cNvSpPr/>
          <p:nvPr/>
        </p:nvSpPr>
        <p:spPr>
          <a:xfrm>
            <a:off x="3587040" y="6395760"/>
            <a:ext cx="3532320" cy="613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Consulta sin capacidad de modificación</a:t>
            </a:r>
            <a:endParaRPr b="0" lang="en-US" sz="1500" strike="noStrike" u="none">
              <a:solidFill>
                <a:srgbClr val="000000"/>
              </a:solidFill>
              <a:effectLst/>
              <a:uFillTx/>
              <a:latin typeface="Arial"/>
            </a:endParaRPr>
          </a:p>
        </p:txBody>
      </p:sp>
      <p:sp>
        <p:nvSpPr>
          <p:cNvPr id="226" name="Text 29"/>
          <p:cNvSpPr/>
          <p:nvPr/>
        </p:nvSpPr>
        <p:spPr>
          <a:xfrm>
            <a:off x="7511040" y="6395760"/>
            <a:ext cx="41864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Solo permisos VIEW y EXPORT</a:t>
            </a:r>
            <a:endParaRPr b="0" lang="en-US" sz="1500" strike="noStrike" u="none">
              <a:solidFill>
                <a:srgbClr val="000000"/>
              </a:solidFill>
              <a:effectLst/>
              <a:uFillTx/>
              <a:latin typeface="Arial"/>
            </a:endParaRPr>
          </a:p>
        </p:txBody>
      </p:sp>
      <p:sp>
        <p:nvSpPr>
          <p:cNvPr id="227" name="Text 30"/>
          <p:cNvSpPr/>
          <p:nvPr/>
        </p:nvSpPr>
        <p:spPr>
          <a:xfrm>
            <a:off x="12088800" y="6395760"/>
            <a:ext cx="1574280" cy="3218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000000"/>
                </a:solidFill>
                <a:effectLst/>
                <a:uFillTx/>
                <a:latin typeface="Tomorrow"/>
                <a:ea typeface="Tomorrow"/>
              </a:rPr>
              <a:t>✅</a:t>
            </a:r>
            <a:r>
              <a:rPr b="0" lang="en-US" sz="1500" strike="noStrike" u="none">
                <a:solidFill>
                  <a:srgbClr val="61615c"/>
                </a:solidFill>
                <a:effectLst/>
                <a:uFillTx/>
                <a:latin typeface="Tomorrow"/>
                <a:ea typeface="Tomorrow"/>
              </a:rPr>
              <a:t> Sí</a:t>
            </a:r>
            <a:endParaRPr b="0" lang="en-US" sz="1500" strike="noStrike" u="none">
              <a:solidFill>
                <a:srgbClr val="000000"/>
              </a:solidFill>
              <a:effectLst/>
              <a:uFillTx/>
              <a:latin typeface="Arial"/>
            </a:endParaRPr>
          </a:p>
        </p:txBody>
      </p:sp>
      <p:sp>
        <p:nvSpPr>
          <p:cNvPr id="228" name="Shape 31"/>
          <p:cNvSpPr/>
          <p:nvPr/>
        </p:nvSpPr>
        <p:spPr>
          <a:xfrm>
            <a:off x="775080" y="7132680"/>
            <a:ext cx="13079520" cy="56736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9" name="Text 32"/>
          <p:cNvSpPr/>
          <p:nvPr/>
        </p:nvSpPr>
        <p:spPr>
          <a:xfrm>
            <a:off x="967320" y="7255440"/>
            <a:ext cx="22280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Empleado</a:t>
            </a:r>
            <a:endParaRPr b="0" lang="en-US" sz="1500" strike="noStrike" u="none">
              <a:solidFill>
                <a:srgbClr val="000000"/>
              </a:solidFill>
              <a:effectLst/>
              <a:uFillTx/>
              <a:latin typeface="Arial"/>
            </a:endParaRPr>
          </a:p>
        </p:txBody>
      </p:sp>
      <p:sp>
        <p:nvSpPr>
          <p:cNvPr id="230" name="Text 33"/>
          <p:cNvSpPr/>
          <p:nvPr/>
        </p:nvSpPr>
        <p:spPr>
          <a:xfrm>
            <a:off x="3587040" y="7255440"/>
            <a:ext cx="353232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Usuario básico con acceso limitado</a:t>
            </a:r>
            <a:endParaRPr b="0" lang="en-US" sz="1500" strike="noStrike" u="none">
              <a:solidFill>
                <a:srgbClr val="000000"/>
              </a:solidFill>
              <a:effectLst/>
              <a:uFillTx/>
              <a:latin typeface="Arial"/>
            </a:endParaRPr>
          </a:p>
        </p:txBody>
      </p:sp>
      <p:sp>
        <p:nvSpPr>
          <p:cNvPr id="231" name="Text 34"/>
          <p:cNvSpPr/>
          <p:nvPr/>
        </p:nvSpPr>
        <p:spPr>
          <a:xfrm>
            <a:off x="7511040" y="7255440"/>
            <a:ext cx="4186440" cy="3067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61615c"/>
                </a:solidFill>
                <a:effectLst/>
                <a:uFillTx/>
                <a:latin typeface="Tomorrow"/>
                <a:ea typeface="Tomorrow"/>
              </a:rPr>
              <a:t>Ver su propia información personal</a:t>
            </a:r>
            <a:endParaRPr b="0" lang="en-US" sz="1500" strike="noStrike" u="none">
              <a:solidFill>
                <a:srgbClr val="000000"/>
              </a:solidFill>
              <a:effectLst/>
              <a:uFillTx/>
              <a:latin typeface="Arial"/>
            </a:endParaRPr>
          </a:p>
        </p:txBody>
      </p:sp>
      <p:sp>
        <p:nvSpPr>
          <p:cNvPr id="232" name="Text 35"/>
          <p:cNvSpPr/>
          <p:nvPr/>
        </p:nvSpPr>
        <p:spPr>
          <a:xfrm>
            <a:off x="12088800" y="7255440"/>
            <a:ext cx="1574280" cy="3218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trike="noStrike" u="none">
                <a:solidFill>
                  <a:srgbClr val="000000"/>
                </a:solidFill>
                <a:effectLst/>
                <a:uFillTx/>
                <a:latin typeface="Tomorrow"/>
                <a:ea typeface="Tomorrow"/>
              </a:rPr>
              <a:t>✅</a:t>
            </a:r>
            <a:r>
              <a:rPr b="0" lang="en-US" sz="1500" strike="noStrike" u="none">
                <a:solidFill>
                  <a:srgbClr val="61615c"/>
                </a:solidFill>
                <a:effectLst/>
                <a:uFillTx/>
                <a:latin typeface="Tomorrow"/>
                <a:ea typeface="Tomorrow"/>
              </a:rPr>
              <a:t> Sí</a:t>
            </a:r>
            <a:endParaRPr b="0" lang="en-US" sz="1500" strike="noStrike" u="none">
              <a:solidFill>
                <a:srgbClr val="000000"/>
              </a:solidFill>
              <a:effectLst/>
              <a:uFillTx/>
              <a:latin typeface="Arial"/>
            </a:endParaRPr>
          </a:p>
        </p:txBody>
      </p:sp>
      <p:pic>
        <p:nvPicPr>
          <p:cNvPr id="233" name="" descr=""/>
          <p:cNvPicPr/>
          <p:nvPr/>
        </p:nvPicPr>
        <p:blipFill>
          <a:blip r:embed="rId1"/>
          <a:stretch/>
        </p:blipFill>
        <p:spPr>
          <a:xfrm>
            <a:off x="12801600" y="7772760"/>
            <a:ext cx="1828800" cy="4474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Text 0"/>
          <p:cNvSpPr/>
          <p:nvPr/>
        </p:nvSpPr>
        <p:spPr>
          <a:xfrm>
            <a:off x="561240" y="497880"/>
            <a:ext cx="7946640" cy="438120"/>
          </a:xfrm>
          <a:prstGeom prst="rect">
            <a:avLst/>
          </a:prstGeom>
          <a:noFill/>
          <a:ln w="0">
            <a:noFill/>
          </a:ln>
        </p:spPr>
        <p:style>
          <a:lnRef idx="0"/>
          <a:fillRef idx="0"/>
          <a:effectRef idx="0"/>
          <a:fontRef idx="minor"/>
        </p:style>
        <p:txBody>
          <a:bodyPr wrap="none" lIns="0" rIns="0" tIns="0" bIns="0" anchor="t">
            <a:noAutofit/>
          </a:bodyPr>
          <a:p>
            <a:pPr>
              <a:lnSpc>
                <a:spcPts val="3450"/>
              </a:lnSpc>
              <a:tabLst>
                <a:tab algn="l" pos="0"/>
              </a:tabLst>
            </a:pPr>
            <a:r>
              <a:rPr b="0" lang="en-US" sz="2750" strike="noStrike" u="none">
                <a:solidFill>
                  <a:srgbClr val="1d1d1b"/>
                </a:solidFill>
                <a:effectLst/>
                <a:uFillTx/>
                <a:latin typeface="Tomorrow Semi Bold"/>
                <a:ea typeface="Tomorrow Semi Bold"/>
              </a:rPr>
              <a:t>Cómo Crear un Nuevo Rol: Proceso Completo</a:t>
            </a:r>
            <a:endParaRPr b="0" lang="en-US" sz="2750" strike="noStrike" u="none">
              <a:solidFill>
                <a:srgbClr val="000000"/>
              </a:solidFill>
              <a:effectLst/>
              <a:uFillTx/>
              <a:latin typeface="Arial"/>
            </a:endParaRPr>
          </a:p>
        </p:txBody>
      </p:sp>
      <p:pic>
        <p:nvPicPr>
          <p:cNvPr id="235" name="Image 0" descr="preencoded.png"/>
          <p:cNvPicPr/>
          <p:nvPr/>
        </p:nvPicPr>
        <p:blipFill>
          <a:blip r:embed="rId1"/>
          <a:stretch/>
        </p:blipFill>
        <p:spPr>
          <a:xfrm>
            <a:off x="561240" y="1217160"/>
            <a:ext cx="420480" cy="1142640"/>
          </a:xfrm>
          <a:prstGeom prst="rect">
            <a:avLst/>
          </a:prstGeom>
          <a:noFill/>
          <a:ln w="0">
            <a:noFill/>
          </a:ln>
        </p:spPr>
      </p:pic>
      <p:sp>
        <p:nvSpPr>
          <p:cNvPr id="236" name="Text 1"/>
          <p:cNvSpPr/>
          <p:nvPr/>
        </p:nvSpPr>
        <p:spPr>
          <a:xfrm>
            <a:off x="1122480" y="1357560"/>
            <a:ext cx="283104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trike="noStrike" u="none">
                <a:solidFill>
                  <a:srgbClr val="61615c"/>
                </a:solidFill>
                <a:effectLst/>
                <a:uFillTx/>
                <a:latin typeface="Tomorrow Semi Bold"/>
                <a:ea typeface="Tomorrow Semi Bold"/>
              </a:rPr>
              <a:t>Paso 1: Planificación Estratégica</a:t>
            </a:r>
            <a:endParaRPr b="0" lang="en-US" sz="1350" strike="noStrike" u="none">
              <a:solidFill>
                <a:srgbClr val="000000"/>
              </a:solidFill>
              <a:effectLst/>
              <a:uFillTx/>
              <a:latin typeface="Arial"/>
            </a:endParaRPr>
          </a:p>
        </p:txBody>
      </p:sp>
      <p:sp>
        <p:nvSpPr>
          <p:cNvPr id="237" name="Text 2"/>
          <p:cNvSpPr/>
          <p:nvPr/>
        </p:nvSpPr>
        <p:spPr>
          <a:xfrm>
            <a:off x="1122480" y="1661040"/>
            <a:ext cx="12945960" cy="448920"/>
          </a:xfrm>
          <a:prstGeom prst="rect">
            <a:avLst/>
          </a:prstGeom>
          <a:noFill/>
          <a:ln w="0">
            <a:noFill/>
          </a:ln>
        </p:spPr>
        <p:style>
          <a:lnRef idx="0"/>
          <a:fillRef idx="0"/>
          <a:effectRef idx="0"/>
          <a:fontRef idx="minor"/>
        </p:style>
        <p:txBody>
          <a:bodyPr lIns="0" rIns="0" tIns="0" bIns="0" anchor="t">
            <a:noAutofit/>
          </a:bodyPr>
          <a:p>
            <a:pPr>
              <a:lnSpc>
                <a:spcPts val="1749"/>
              </a:lnSpc>
              <a:tabLst>
                <a:tab algn="l" pos="0"/>
              </a:tabLst>
            </a:pPr>
            <a:r>
              <a:rPr b="0" lang="en-US" sz="1100" strike="noStrike" u="none">
                <a:solidFill>
                  <a:srgbClr val="61615c"/>
                </a:solidFill>
                <a:effectLst/>
                <a:uFillTx/>
                <a:latin typeface="Tomorrow"/>
                <a:ea typeface="Tomorrow"/>
              </a:rPr>
              <a:t>Antes de crear, defina claramente: ¿Qué hará esta persona diariamente? ¿Qué información necesita ver? ¿Qué puede modificar? ¿Qué NO debe poder hacer? Ejemplo: "Registrar nuevas contrataciones" requiere ver empleados, crear empleados, subir documentos, pero NO eliminar ni ver nómina.</a:t>
            </a:r>
            <a:endParaRPr b="0" lang="en-US" sz="1100" strike="noStrike" u="none">
              <a:solidFill>
                <a:srgbClr val="000000"/>
              </a:solidFill>
              <a:effectLst/>
              <a:uFillTx/>
              <a:latin typeface="Arial"/>
            </a:endParaRPr>
          </a:p>
        </p:txBody>
      </p:sp>
      <p:pic>
        <p:nvPicPr>
          <p:cNvPr id="238" name="Image 1" descr="preencoded.png"/>
          <p:cNvPicPr/>
          <p:nvPr/>
        </p:nvPicPr>
        <p:blipFill>
          <a:blip r:embed="rId2"/>
          <a:stretch/>
        </p:blipFill>
        <p:spPr>
          <a:xfrm>
            <a:off x="771840" y="2390400"/>
            <a:ext cx="420480" cy="1142640"/>
          </a:xfrm>
          <a:prstGeom prst="rect">
            <a:avLst/>
          </a:prstGeom>
          <a:noFill/>
          <a:ln w="0">
            <a:noFill/>
          </a:ln>
        </p:spPr>
      </p:pic>
      <p:sp>
        <p:nvSpPr>
          <p:cNvPr id="239" name="Text 3"/>
          <p:cNvSpPr/>
          <p:nvPr/>
        </p:nvSpPr>
        <p:spPr>
          <a:xfrm>
            <a:off x="1333080" y="2530800"/>
            <a:ext cx="230940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trike="noStrike" u="none">
                <a:solidFill>
                  <a:srgbClr val="61615c"/>
                </a:solidFill>
                <a:effectLst/>
                <a:uFillTx/>
                <a:latin typeface="Tomorrow Semi Bold"/>
                <a:ea typeface="Tomorrow Semi Bold"/>
              </a:rPr>
              <a:t>Paso 2: Acceso al Sistema</a:t>
            </a:r>
            <a:endParaRPr b="0" lang="en-US" sz="1350" strike="noStrike" u="none">
              <a:solidFill>
                <a:srgbClr val="000000"/>
              </a:solidFill>
              <a:effectLst/>
              <a:uFillTx/>
              <a:latin typeface="Arial"/>
            </a:endParaRPr>
          </a:p>
        </p:txBody>
      </p:sp>
      <p:sp>
        <p:nvSpPr>
          <p:cNvPr id="240" name="Text 4"/>
          <p:cNvSpPr/>
          <p:nvPr/>
        </p:nvSpPr>
        <p:spPr>
          <a:xfrm>
            <a:off x="1333080" y="2834280"/>
            <a:ext cx="12735360" cy="2242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0" lang="en-US" sz="1100" strike="noStrike" u="none">
                <a:solidFill>
                  <a:srgbClr val="61615c"/>
                </a:solidFill>
                <a:effectLst/>
                <a:uFillTx/>
                <a:latin typeface="Tomorrow"/>
                <a:ea typeface="Tomorrow"/>
              </a:rPr>
              <a:t>Inicie sesión con cuenta de Administrador. Navegue a: </a:t>
            </a:r>
            <a:r>
              <a:rPr b="1" lang="en-US" sz="1100" strike="noStrike" u="none">
                <a:solidFill>
                  <a:srgbClr val="61615c"/>
                </a:solidFill>
                <a:effectLst/>
                <a:uFillTx/>
                <a:latin typeface="Tomorrow"/>
                <a:ea typeface="Tomorrow"/>
              </a:rPr>
              <a:t>Core → Seguridad → Gestión de Roles</a:t>
            </a:r>
            <a:r>
              <a:rPr b="0" lang="en-US" sz="1100" strike="noStrike" u="none">
                <a:solidFill>
                  <a:srgbClr val="61615c"/>
                </a:solidFill>
                <a:effectLst/>
                <a:uFillTx/>
                <a:latin typeface="Tomorrow"/>
                <a:ea typeface="Tomorrow"/>
              </a:rPr>
              <a:t>. Haga clic en "Crear Nuevo Rol" en la esquina superior derecha.</a:t>
            </a:r>
            <a:endParaRPr b="0" lang="en-US" sz="1100" strike="noStrike" u="none">
              <a:solidFill>
                <a:srgbClr val="000000"/>
              </a:solidFill>
              <a:effectLst/>
              <a:uFillTx/>
              <a:latin typeface="Arial"/>
            </a:endParaRPr>
          </a:p>
        </p:txBody>
      </p:sp>
      <p:pic>
        <p:nvPicPr>
          <p:cNvPr id="241" name="Image 2" descr="preencoded.png"/>
          <p:cNvPicPr/>
          <p:nvPr/>
        </p:nvPicPr>
        <p:blipFill>
          <a:blip r:embed="rId3"/>
          <a:stretch/>
        </p:blipFill>
        <p:spPr>
          <a:xfrm>
            <a:off x="982440" y="3372840"/>
            <a:ext cx="420480" cy="1142640"/>
          </a:xfrm>
          <a:prstGeom prst="rect">
            <a:avLst/>
          </a:prstGeom>
          <a:noFill/>
          <a:ln w="0">
            <a:noFill/>
          </a:ln>
        </p:spPr>
      </p:pic>
      <p:sp>
        <p:nvSpPr>
          <p:cNvPr id="242" name="Text 5"/>
          <p:cNvSpPr/>
          <p:nvPr/>
        </p:nvSpPr>
        <p:spPr>
          <a:xfrm>
            <a:off x="1543680" y="3513240"/>
            <a:ext cx="242640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trike="noStrike" u="none">
                <a:solidFill>
                  <a:srgbClr val="61615c"/>
                </a:solidFill>
                <a:effectLst/>
                <a:uFillTx/>
                <a:latin typeface="Tomorrow Semi Bold"/>
                <a:ea typeface="Tomorrow Semi Bold"/>
              </a:rPr>
              <a:t>Paso 3: Información Básica</a:t>
            </a:r>
            <a:endParaRPr b="0" lang="en-US" sz="1350" strike="noStrike" u="none">
              <a:solidFill>
                <a:srgbClr val="000000"/>
              </a:solidFill>
              <a:effectLst/>
              <a:uFillTx/>
              <a:latin typeface="Arial"/>
            </a:endParaRPr>
          </a:p>
        </p:txBody>
      </p:sp>
      <p:sp>
        <p:nvSpPr>
          <p:cNvPr id="243" name="Text 6"/>
          <p:cNvSpPr/>
          <p:nvPr/>
        </p:nvSpPr>
        <p:spPr>
          <a:xfrm>
            <a:off x="1543680" y="3816720"/>
            <a:ext cx="12525120" cy="448920"/>
          </a:xfrm>
          <a:prstGeom prst="rect">
            <a:avLst/>
          </a:prstGeom>
          <a:noFill/>
          <a:ln w="0">
            <a:noFill/>
          </a:ln>
        </p:spPr>
        <p:style>
          <a:lnRef idx="0"/>
          <a:fillRef idx="0"/>
          <a:effectRef idx="0"/>
          <a:fontRef idx="minor"/>
        </p:style>
        <p:txBody>
          <a:bodyPr lIns="0" rIns="0" tIns="0" bIns="0" anchor="t">
            <a:noAutofit/>
          </a:bodyPr>
          <a:p>
            <a:pPr>
              <a:lnSpc>
                <a:spcPts val="1749"/>
              </a:lnSpc>
              <a:tabLst>
                <a:tab algn="l" pos="0"/>
              </a:tabLst>
            </a:pPr>
            <a:r>
              <a:rPr b="0" lang="en-US" sz="1100" strike="noStrike" u="none">
                <a:solidFill>
                  <a:srgbClr val="61615c"/>
                </a:solidFill>
                <a:effectLst/>
                <a:uFillTx/>
                <a:latin typeface="Tomorrow"/>
                <a:ea typeface="Tomorrow"/>
              </a:rPr>
              <a:t>Complete el formulario con </a:t>
            </a:r>
            <a:r>
              <a:rPr b="1" lang="en-US" sz="1100" strike="noStrike" u="none">
                <a:solidFill>
                  <a:srgbClr val="61615c"/>
                </a:solidFill>
                <a:effectLst/>
                <a:uFillTx/>
                <a:latin typeface="Tomorrow"/>
                <a:ea typeface="Tomorrow"/>
              </a:rPr>
              <a:t>Nombre del Rol</a:t>
            </a:r>
            <a:r>
              <a:rPr b="0" lang="en-US" sz="1100" strike="noStrike" u="none">
                <a:solidFill>
                  <a:srgbClr val="61615c"/>
                </a:solidFill>
                <a:effectLst/>
                <a:uFillTx/>
                <a:latin typeface="Tomorrow"/>
                <a:ea typeface="Tomorrow"/>
              </a:rPr>
              <a:t> (específico y descriptivo como "Coordinador de Contratación"), </a:t>
            </a:r>
            <a:r>
              <a:rPr b="1" lang="en-US" sz="1100" strike="noStrike" u="none">
                <a:solidFill>
                  <a:srgbClr val="61615c"/>
                </a:solidFill>
                <a:effectLst/>
                <a:uFillTx/>
                <a:latin typeface="Tomorrow"/>
                <a:ea typeface="Tomorrow"/>
              </a:rPr>
              <a:t>Descripción</a:t>
            </a:r>
            <a:r>
              <a:rPr b="0" lang="en-US" sz="1100" strike="noStrike" u="none">
                <a:solidFill>
                  <a:srgbClr val="61615c"/>
                </a:solidFill>
                <a:effectLst/>
                <a:uFillTx/>
                <a:latin typeface="Tomorrow"/>
                <a:ea typeface="Tomorrow"/>
              </a:rPr>
              <a:t> opcional pero recomendada para documentar cuándo usar este rol, y </a:t>
            </a:r>
            <a:r>
              <a:rPr b="1" lang="en-US" sz="1100" strike="noStrike" u="none">
                <a:solidFill>
                  <a:srgbClr val="61615c"/>
                </a:solidFill>
                <a:effectLst/>
                <a:uFillTx/>
                <a:latin typeface="Tomorrow"/>
                <a:ea typeface="Tomorrow"/>
              </a:rPr>
              <a:t>Estado</a:t>
            </a:r>
            <a:r>
              <a:rPr b="0" lang="en-US" sz="1100" strike="noStrike" u="none">
                <a:solidFill>
                  <a:srgbClr val="61615c"/>
                </a:solidFill>
                <a:effectLst/>
                <a:uFillTx/>
                <a:latin typeface="Tomorrow"/>
                <a:ea typeface="Tomorrow"/>
              </a:rPr>
              <a:t> (Activo para usar inmediatamente).</a:t>
            </a:r>
            <a:endParaRPr b="0" lang="en-US" sz="1100" strike="noStrike" u="none">
              <a:solidFill>
                <a:srgbClr val="000000"/>
              </a:solidFill>
              <a:effectLst/>
              <a:uFillTx/>
              <a:latin typeface="Arial"/>
            </a:endParaRPr>
          </a:p>
        </p:txBody>
      </p:sp>
      <p:pic>
        <p:nvPicPr>
          <p:cNvPr id="244" name="Image 3" descr="preencoded.png"/>
          <p:cNvPicPr/>
          <p:nvPr/>
        </p:nvPicPr>
        <p:blipFill>
          <a:blip r:embed="rId4"/>
          <a:stretch/>
        </p:blipFill>
        <p:spPr>
          <a:xfrm>
            <a:off x="1193040" y="4546440"/>
            <a:ext cx="420480" cy="1142640"/>
          </a:xfrm>
          <a:prstGeom prst="rect">
            <a:avLst/>
          </a:prstGeom>
          <a:noFill/>
          <a:ln w="0">
            <a:noFill/>
          </a:ln>
        </p:spPr>
      </p:pic>
      <p:sp>
        <p:nvSpPr>
          <p:cNvPr id="245" name="Text 7"/>
          <p:cNvSpPr/>
          <p:nvPr/>
        </p:nvSpPr>
        <p:spPr>
          <a:xfrm>
            <a:off x="1754280" y="4686480"/>
            <a:ext cx="270432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trike="noStrike" u="none">
                <a:solidFill>
                  <a:srgbClr val="61615c"/>
                </a:solidFill>
                <a:effectLst/>
                <a:uFillTx/>
                <a:latin typeface="Tomorrow Semi Bold"/>
                <a:ea typeface="Tomorrow Semi Bold"/>
              </a:rPr>
              <a:t>Paso 4: Selección de Permisos</a:t>
            </a:r>
            <a:endParaRPr b="0" lang="en-US" sz="1350" strike="noStrike" u="none">
              <a:solidFill>
                <a:srgbClr val="000000"/>
              </a:solidFill>
              <a:effectLst/>
              <a:uFillTx/>
              <a:latin typeface="Arial"/>
            </a:endParaRPr>
          </a:p>
        </p:txBody>
      </p:sp>
      <p:sp>
        <p:nvSpPr>
          <p:cNvPr id="246" name="Text 8"/>
          <p:cNvSpPr/>
          <p:nvPr/>
        </p:nvSpPr>
        <p:spPr>
          <a:xfrm>
            <a:off x="1754280" y="4989960"/>
            <a:ext cx="12314520" cy="448920"/>
          </a:xfrm>
          <a:prstGeom prst="rect">
            <a:avLst/>
          </a:prstGeom>
          <a:noFill/>
          <a:ln w="0">
            <a:noFill/>
          </a:ln>
        </p:spPr>
        <p:style>
          <a:lnRef idx="0"/>
          <a:fillRef idx="0"/>
          <a:effectRef idx="0"/>
          <a:fontRef idx="minor"/>
        </p:style>
        <p:txBody>
          <a:bodyPr lIns="0" rIns="0" tIns="0" bIns="0" anchor="t">
            <a:noAutofit/>
          </a:bodyPr>
          <a:p>
            <a:pPr>
              <a:lnSpc>
                <a:spcPts val="1749"/>
              </a:lnSpc>
              <a:tabLst>
                <a:tab algn="l" pos="0"/>
              </a:tabLst>
            </a:pPr>
            <a:r>
              <a:rPr b="0" lang="en-US" sz="1100" strike="noStrike" u="none">
                <a:solidFill>
                  <a:srgbClr val="61615c"/>
                </a:solidFill>
                <a:effectLst/>
                <a:uFillTx/>
                <a:latin typeface="Tomorrow"/>
                <a:ea typeface="Tomorrow"/>
              </a:rPr>
              <a:t>Los permisos están organizados por categorías funcionales. Elija el método: </a:t>
            </a:r>
            <a:r>
              <a:rPr b="1" lang="en-US" sz="1100" strike="noStrike" u="none">
                <a:solidFill>
                  <a:srgbClr val="61615c"/>
                </a:solidFill>
                <a:effectLst/>
                <a:uFillTx/>
                <a:latin typeface="Tomorrow"/>
                <a:ea typeface="Tomorrow"/>
              </a:rPr>
              <a:t>Selección Individual</a:t>
            </a:r>
            <a:r>
              <a:rPr b="0" lang="en-US" sz="1100" strike="noStrike" u="none">
                <a:solidFill>
                  <a:srgbClr val="61615c"/>
                </a:solidFill>
                <a:effectLst/>
                <a:uFillTx/>
                <a:latin typeface="Tomorrow"/>
                <a:ea typeface="Tomorrow"/>
              </a:rPr>
              <a:t> (más preciso), </a:t>
            </a:r>
            <a:r>
              <a:rPr b="1" lang="en-US" sz="1100" strike="noStrike" u="none">
                <a:solidFill>
                  <a:srgbClr val="61615c"/>
                </a:solidFill>
                <a:effectLst/>
                <a:uFillTx/>
                <a:latin typeface="Tomorrow"/>
                <a:ea typeface="Tomorrow"/>
              </a:rPr>
              <a:t>Por Recurso</a:t>
            </a:r>
            <a:r>
              <a:rPr b="0" lang="en-US" sz="1100" strike="noStrike" u="none">
                <a:solidFill>
                  <a:srgbClr val="61615c"/>
                </a:solidFill>
                <a:effectLst/>
                <a:uFillTx/>
                <a:latin typeface="Tomorrow"/>
                <a:ea typeface="Tomorrow"/>
              </a:rPr>
              <a:t> (rápido para áreas completas), o </a:t>
            </a:r>
            <a:r>
              <a:rPr b="1" lang="en-US" sz="1100" strike="noStrike" u="none">
                <a:solidFill>
                  <a:srgbClr val="61615c"/>
                </a:solidFill>
                <a:effectLst/>
                <a:uFillTx/>
                <a:latin typeface="Tomorrow"/>
                <a:ea typeface="Tomorrow"/>
              </a:rPr>
              <a:t>Por Módulo</a:t>
            </a:r>
            <a:r>
              <a:rPr b="0" lang="en-US" sz="1100" strike="noStrike" u="none">
                <a:solidFill>
                  <a:srgbClr val="61615c"/>
                </a:solidFill>
                <a:effectLst/>
                <a:uFillTx/>
                <a:latin typeface="Tomorrow"/>
                <a:ea typeface="Tomorrow"/>
              </a:rPr>
              <a:t> (más amplio para roles administrativos).</a:t>
            </a:r>
            <a:endParaRPr b="0" lang="en-US" sz="1100" strike="noStrike" u="none">
              <a:solidFill>
                <a:srgbClr val="000000"/>
              </a:solidFill>
              <a:effectLst/>
              <a:uFillTx/>
              <a:latin typeface="Arial"/>
            </a:endParaRPr>
          </a:p>
        </p:txBody>
      </p:sp>
      <p:pic>
        <p:nvPicPr>
          <p:cNvPr id="247" name="Image 4" descr="preencoded.png"/>
          <p:cNvPicPr/>
          <p:nvPr/>
        </p:nvPicPr>
        <p:blipFill>
          <a:blip r:embed="rId5"/>
          <a:stretch/>
        </p:blipFill>
        <p:spPr>
          <a:xfrm>
            <a:off x="982440" y="5719680"/>
            <a:ext cx="420480" cy="1142640"/>
          </a:xfrm>
          <a:prstGeom prst="rect">
            <a:avLst/>
          </a:prstGeom>
          <a:noFill/>
          <a:ln w="0">
            <a:noFill/>
          </a:ln>
        </p:spPr>
      </p:pic>
      <p:sp>
        <p:nvSpPr>
          <p:cNvPr id="248" name="Text 9"/>
          <p:cNvSpPr/>
          <p:nvPr/>
        </p:nvSpPr>
        <p:spPr>
          <a:xfrm>
            <a:off x="1543680" y="5859720"/>
            <a:ext cx="251784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trike="noStrike" u="none">
                <a:solidFill>
                  <a:srgbClr val="61615c"/>
                </a:solidFill>
                <a:effectLst/>
                <a:uFillTx/>
                <a:latin typeface="Tomorrow Semi Bold"/>
                <a:ea typeface="Tomorrow Semi Bold"/>
              </a:rPr>
              <a:t>Paso 5: Revisión y Guardado</a:t>
            </a:r>
            <a:endParaRPr b="0" lang="en-US" sz="1350" strike="noStrike" u="none">
              <a:solidFill>
                <a:srgbClr val="000000"/>
              </a:solidFill>
              <a:effectLst/>
              <a:uFillTx/>
              <a:latin typeface="Arial"/>
            </a:endParaRPr>
          </a:p>
        </p:txBody>
      </p:sp>
      <p:sp>
        <p:nvSpPr>
          <p:cNvPr id="249" name="Text 10"/>
          <p:cNvSpPr/>
          <p:nvPr/>
        </p:nvSpPr>
        <p:spPr>
          <a:xfrm>
            <a:off x="1543680" y="6163560"/>
            <a:ext cx="12525120" cy="448920"/>
          </a:xfrm>
          <a:prstGeom prst="rect">
            <a:avLst/>
          </a:prstGeom>
          <a:noFill/>
          <a:ln w="0">
            <a:noFill/>
          </a:ln>
        </p:spPr>
        <p:style>
          <a:lnRef idx="0"/>
          <a:fillRef idx="0"/>
          <a:effectRef idx="0"/>
          <a:fontRef idx="minor"/>
        </p:style>
        <p:txBody>
          <a:bodyPr lIns="0" rIns="0" tIns="0" bIns="0" anchor="t">
            <a:noAutofit/>
          </a:bodyPr>
          <a:p>
            <a:pPr>
              <a:lnSpc>
                <a:spcPts val="1749"/>
              </a:lnSpc>
              <a:tabLst>
                <a:tab algn="l" pos="0"/>
              </a:tabLst>
            </a:pPr>
            <a:r>
              <a:rPr b="0" lang="en-US" sz="1100" strike="noStrike" u="none">
                <a:solidFill>
                  <a:srgbClr val="61615c"/>
                </a:solidFill>
                <a:effectLst/>
                <a:uFillTx/>
                <a:latin typeface="Tomorrow"/>
                <a:ea typeface="Tomorrow"/>
              </a:rPr>
              <a:t>Revise la lista completa de permisos seleccionados usando el "Resumen de Permisos". Verifique las dependencias automáticas (marcadas en amarillo). Haga clic en "Guardar Rol". El rol estará disponible inmediatamente para asignar a usuarios.</a:t>
            </a:r>
            <a:endParaRPr b="0" lang="en-US" sz="1100" strike="noStrike" u="none">
              <a:solidFill>
                <a:srgbClr val="000000"/>
              </a:solidFill>
              <a:effectLst/>
              <a:uFillTx/>
              <a:latin typeface="Arial"/>
            </a:endParaRPr>
          </a:p>
        </p:txBody>
      </p:sp>
      <p:sp>
        <p:nvSpPr>
          <p:cNvPr id="250" name="Shape 11"/>
          <p:cNvSpPr/>
          <p:nvPr/>
        </p:nvSpPr>
        <p:spPr>
          <a:xfrm>
            <a:off x="561240" y="6910560"/>
            <a:ext cx="13507200" cy="820440"/>
          </a:xfrm>
          <a:prstGeom prst="roundRect">
            <a:avLst>
              <a:gd name="adj" fmla="val 2565"/>
            </a:avLst>
          </a:prstGeom>
          <a:solidFill>
            <a:srgbClr val="dadad7"/>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51" name="Image 5" descr="preencoded.png"/>
          <p:cNvPicPr/>
          <p:nvPr/>
        </p:nvPicPr>
        <p:blipFill>
          <a:blip r:embed="rId6"/>
          <a:stretch/>
        </p:blipFill>
        <p:spPr>
          <a:xfrm>
            <a:off x="701640" y="7123320"/>
            <a:ext cx="174960" cy="140040"/>
          </a:xfrm>
          <a:prstGeom prst="rect">
            <a:avLst/>
          </a:prstGeom>
          <a:noFill/>
          <a:ln w="0">
            <a:noFill/>
          </a:ln>
        </p:spPr>
      </p:pic>
      <p:sp>
        <p:nvSpPr>
          <p:cNvPr id="252" name="Text 12"/>
          <p:cNvSpPr/>
          <p:nvPr/>
        </p:nvSpPr>
        <p:spPr>
          <a:xfrm>
            <a:off x="1017360" y="7085880"/>
            <a:ext cx="12911040" cy="448920"/>
          </a:xfrm>
          <a:prstGeom prst="rect">
            <a:avLst/>
          </a:prstGeom>
          <a:noFill/>
          <a:ln w="0">
            <a:noFill/>
          </a:ln>
        </p:spPr>
        <p:style>
          <a:lnRef idx="0"/>
          <a:fillRef idx="0"/>
          <a:effectRef idx="0"/>
          <a:fontRef idx="minor"/>
        </p:style>
        <p:txBody>
          <a:bodyPr lIns="0" rIns="0" tIns="0" bIns="0" anchor="t">
            <a:noAutofit/>
          </a:bodyPr>
          <a:p>
            <a:pPr>
              <a:lnSpc>
                <a:spcPts val="1749"/>
              </a:lnSpc>
              <a:tabLst>
                <a:tab algn="l" pos="0"/>
              </a:tabLst>
            </a:pPr>
            <a:r>
              <a:rPr b="1" lang="en-US" sz="1100" strike="noStrike" u="none">
                <a:solidFill>
                  <a:srgbClr val="000000"/>
                </a:solidFill>
                <a:effectLst/>
                <a:uFillTx/>
                <a:latin typeface="Tomorrow"/>
                <a:ea typeface="Tomorrow"/>
              </a:rPr>
              <a:t>Ejemplo de Aplicación:</a:t>
            </a:r>
            <a:r>
              <a:rPr b="0" lang="en-US" sz="1100" strike="noStrike" u="none">
                <a:solidFill>
                  <a:srgbClr val="000000"/>
                </a:solidFill>
                <a:effectLst/>
                <a:uFillTx/>
                <a:latin typeface="Tomorrow"/>
                <a:ea typeface="Tomorrow"/>
              </a:rPr>
              <a:t> Para crear un rol "Auditor de Nómina", asigne solo permisos VIEW de empleados, contratos, procesos de nómina, desprendibles y reportes, más EXPORT de reportes para análisis. NO asigne permisos EDIT, CREATE ni DELETE. Resultado: acceso total de lectura para cumplimiento, sin riesgo de modificaciones accidentales.</a:t>
            </a:r>
            <a:endParaRPr b="0" lang="en-US" sz="1100" strike="noStrike" u="none">
              <a:solidFill>
                <a:srgbClr val="000000"/>
              </a:solidFill>
              <a:effectLst/>
              <a:uFillTx/>
              <a:latin typeface="Arial"/>
            </a:endParaRPr>
          </a:p>
        </p:txBody>
      </p:sp>
      <p:pic>
        <p:nvPicPr>
          <p:cNvPr id="253" name="" descr=""/>
          <p:cNvPicPr/>
          <p:nvPr/>
        </p:nvPicPr>
        <p:blipFill>
          <a:blip r:embed="rId7"/>
          <a:stretch/>
        </p:blipFill>
        <p:spPr>
          <a:xfrm>
            <a:off x="12801600" y="7772760"/>
            <a:ext cx="1828800" cy="4474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Shape 0"/>
          <p:cNvSpPr/>
          <p:nvPr/>
        </p:nvSpPr>
        <p:spPr>
          <a:xfrm>
            <a:off x="615600" y="424080"/>
            <a:ext cx="885600" cy="288720"/>
          </a:xfrm>
          <a:prstGeom prst="roundRect">
            <a:avLst>
              <a:gd name="adj" fmla="val 6390"/>
            </a:avLst>
          </a:prstGeom>
          <a:solidFill>
            <a:srgbClr val="e6e6e5"/>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5" name="Text 1"/>
          <p:cNvSpPr/>
          <p:nvPr/>
        </p:nvSpPr>
        <p:spPr>
          <a:xfrm>
            <a:off x="708120" y="470160"/>
            <a:ext cx="700920" cy="1965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CAPÍTULO 3</a:t>
            </a:r>
            <a:endParaRPr b="0" lang="en-US" sz="950" strike="noStrike" u="none">
              <a:solidFill>
                <a:srgbClr val="000000"/>
              </a:solidFill>
              <a:effectLst/>
              <a:uFillTx/>
              <a:latin typeface="Arial"/>
            </a:endParaRPr>
          </a:p>
        </p:txBody>
      </p:sp>
      <p:sp>
        <p:nvSpPr>
          <p:cNvPr id="256" name="Text 2"/>
          <p:cNvSpPr/>
          <p:nvPr/>
        </p:nvSpPr>
        <p:spPr>
          <a:xfrm>
            <a:off x="615600" y="774720"/>
            <a:ext cx="9529920" cy="480600"/>
          </a:xfrm>
          <a:prstGeom prst="rect">
            <a:avLst/>
          </a:prstGeom>
          <a:noFill/>
          <a:ln w="0">
            <a:noFill/>
          </a:ln>
        </p:spPr>
        <p:style>
          <a:lnRef idx="0"/>
          <a:fillRef idx="0"/>
          <a:effectRef idx="0"/>
          <a:fontRef idx="minor"/>
        </p:style>
        <p:txBody>
          <a:bodyPr wrap="none" lIns="0" rIns="0" tIns="0" bIns="0" anchor="t">
            <a:noAutofit/>
          </a:bodyPr>
          <a:p>
            <a:pPr>
              <a:lnSpc>
                <a:spcPts val="3750"/>
              </a:lnSpc>
              <a:tabLst>
                <a:tab algn="l" pos="0"/>
              </a:tabLst>
            </a:pPr>
            <a:r>
              <a:rPr b="0" lang="en-US" sz="3000" strike="noStrike" u="none">
                <a:solidFill>
                  <a:srgbClr val="1d1d1b"/>
                </a:solidFill>
                <a:effectLst/>
                <a:uFillTx/>
                <a:latin typeface="Tomorrow Semi Bold"/>
                <a:ea typeface="Tomorrow Semi Bold"/>
              </a:rPr>
              <a:t>Gestión de Usuarios: Invitación y Administración</a:t>
            </a:r>
            <a:endParaRPr b="0" lang="en-US" sz="3000" strike="noStrike" u="none">
              <a:solidFill>
                <a:srgbClr val="000000"/>
              </a:solidFill>
              <a:effectLst/>
              <a:uFillTx/>
              <a:latin typeface="Arial"/>
            </a:endParaRPr>
          </a:p>
        </p:txBody>
      </p:sp>
      <p:sp>
        <p:nvSpPr>
          <p:cNvPr id="257" name="Text 3"/>
          <p:cNvSpPr/>
          <p:nvPr/>
        </p:nvSpPr>
        <p:spPr>
          <a:xfrm>
            <a:off x="615600" y="1317240"/>
            <a:ext cx="4589280" cy="28800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0" lang="en-US" sz="1800" strike="noStrike" u="none">
                <a:solidFill>
                  <a:srgbClr val="1d1d1b"/>
                </a:solidFill>
                <a:effectLst/>
                <a:uFillTx/>
                <a:latin typeface="Tomorrow Semi Bold"/>
                <a:ea typeface="Tomorrow Semi Bold"/>
              </a:rPr>
              <a:t>Crear Usuarios: Proceso de Onboarding</a:t>
            </a:r>
            <a:endParaRPr b="0" lang="en-US" sz="1800" strike="noStrike" u="none">
              <a:solidFill>
                <a:srgbClr val="000000"/>
              </a:solidFill>
              <a:effectLst/>
              <a:uFillTx/>
              <a:latin typeface="Arial"/>
            </a:endParaRPr>
          </a:p>
        </p:txBody>
      </p:sp>
      <p:sp>
        <p:nvSpPr>
          <p:cNvPr id="258" name="Text 4"/>
          <p:cNvSpPr/>
          <p:nvPr/>
        </p:nvSpPr>
        <p:spPr>
          <a:xfrm>
            <a:off x="615600" y="1836360"/>
            <a:ext cx="13398840" cy="492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200" strike="noStrike" u="none">
                <a:solidFill>
                  <a:srgbClr val="61615c"/>
                </a:solidFill>
                <a:effectLst/>
                <a:uFillTx/>
                <a:latin typeface="Tomorrow"/>
                <a:ea typeface="Tomorrow"/>
              </a:rPr>
              <a:t>La invitación de nuevos usuarios es un proceso estructurado que garantiza seguridad desde el primer acceso. Cada paso está diseñado para mantener la integridad del sistema mientras facilita una incorporación fluida.</a:t>
            </a:r>
            <a:endParaRPr b="0" lang="en-US" sz="1200" strike="noStrike" u="none">
              <a:solidFill>
                <a:srgbClr val="000000"/>
              </a:solidFill>
              <a:effectLst/>
              <a:uFillTx/>
              <a:latin typeface="Arial"/>
            </a:endParaRPr>
          </a:p>
        </p:txBody>
      </p:sp>
      <p:sp>
        <p:nvSpPr>
          <p:cNvPr id="259" name="Text 5"/>
          <p:cNvSpPr/>
          <p:nvPr/>
        </p:nvSpPr>
        <p:spPr>
          <a:xfrm>
            <a:off x="615600" y="2656080"/>
            <a:ext cx="2500920" cy="2401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500" strike="noStrike" u="none">
                <a:solidFill>
                  <a:srgbClr val="1d1d1b"/>
                </a:solidFill>
                <a:effectLst/>
                <a:uFillTx/>
                <a:latin typeface="Tomorrow Semi Bold"/>
                <a:ea typeface="Tomorrow Semi Bold"/>
              </a:rPr>
              <a:t>Información de Identidad</a:t>
            </a:r>
            <a:endParaRPr b="0" lang="en-US" sz="1500" strike="noStrike" u="none">
              <a:solidFill>
                <a:srgbClr val="000000"/>
              </a:solidFill>
              <a:effectLst/>
              <a:uFillTx/>
              <a:latin typeface="Arial"/>
            </a:endParaRPr>
          </a:p>
        </p:txBody>
      </p:sp>
      <p:sp>
        <p:nvSpPr>
          <p:cNvPr id="260" name="Text 6"/>
          <p:cNvSpPr/>
          <p:nvPr/>
        </p:nvSpPr>
        <p:spPr>
          <a:xfrm>
            <a:off x="615600" y="3050280"/>
            <a:ext cx="6511320" cy="492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Username:</a:t>
            </a:r>
            <a:r>
              <a:rPr b="0" lang="en-US" sz="1200" strike="noStrike" u="none">
                <a:solidFill>
                  <a:srgbClr val="61615c"/>
                </a:solidFill>
                <a:effectLst/>
                <a:uFillTx/>
                <a:latin typeface="Tomorrow"/>
                <a:ea typeface="Tomorrow"/>
              </a:rPr>
              <a:t> Identificador único (solo minúsculas, números y guiones). No puede cambiarse después. Ejemplo: juan.perez</a:t>
            </a:r>
            <a:endParaRPr b="0" lang="en-US" sz="1200" strike="noStrike" u="none">
              <a:solidFill>
                <a:srgbClr val="000000"/>
              </a:solidFill>
              <a:effectLst/>
              <a:uFillTx/>
              <a:latin typeface="Arial"/>
            </a:endParaRPr>
          </a:p>
        </p:txBody>
      </p:sp>
      <p:sp>
        <p:nvSpPr>
          <p:cNvPr id="261" name="Text 7"/>
          <p:cNvSpPr/>
          <p:nvPr/>
        </p:nvSpPr>
        <p:spPr>
          <a:xfrm>
            <a:off x="615600" y="3596400"/>
            <a:ext cx="6511320" cy="492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Email Corporativo:</a:t>
            </a:r>
            <a:r>
              <a:rPr b="0" lang="en-US" sz="1200" strike="noStrike" u="none">
                <a:solidFill>
                  <a:srgbClr val="61615c"/>
                </a:solidFill>
                <a:effectLst/>
                <a:uFillTx/>
                <a:latin typeface="Tomorrow"/>
                <a:ea typeface="Tomorrow"/>
              </a:rPr>
              <a:t> Debe coincidir con el dominio de su empresa para recibir el correo de bienvenida</a:t>
            </a:r>
            <a:endParaRPr b="0" lang="en-US" sz="1200" strike="noStrike" u="none">
              <a:solidFill>
                <a:srgbClr val="000000"/>
              </a:solidFill>
              <a:effectLst/>
              <a:uFillTx/>
              <a:latin typeface="Arial"/>
            </a:endParaRPr>
          </a:p>
        </p:txBody>
      </p:sp>
      <p:sp>
        <p:nvSpPr>
          <p:cNvPr id="262" name="Text 8"/>
          <p:cNvSpPr/>
          <p:nvPr/>
        </p:nvSpPr>
        <p:spPr>
          <a:xfrm>
            <a:off x="615600" y="4142880"/>
            <a:ext cx="6511320" cy="24588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Nombres y Apellidos:</a:t>
            </a:r>
            <a:r>
              <a:rPr b="0" lang="en-US" sz="1200" strike="noStrike" u="none">
                <a:solidFill>
                  <a:srgbClr val="61615c"/>
                </a:solidFill>
                <a:effectLst/>
                <a:uFillTx/>
                <a:latin typeface="Tomorrow"/>
                <a:ea typeface="Tomorrow"/>
              </a:rPr>
              <a:t> Nombre completo para reportes y notificaciones</a:t>
            </a:r>
            <a:endParaRPr b="0" lang="en-US" sz="1200" strike="noStrike" u="none">
              <a:solidFill>
                <a:srgbClr val="000000"/>
              </a:solidFill>
              <a:effectLst/>
              <a:uFillTx/>
              <a:latin typeface="Arial"/>
            </a:endParaRPr>
          </a:p>
        </p:txBody>
      </p:sp>
      <p:sp>
        <p:nvSpPr>
          <p:cNvPr id="263" name="Text 9"/>
          <p:cNvSpPr/>
          <p:nvPr/>
        </p:nvSpPr>
        <p:spPr>
          <a:xfrm>
            <a:off x="615600" y="4442760"/>
            <a:ext cx="6511320" cy="24588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Cargo/Posición:</a:t>
            </a:r>
            <a:r>
              <a:rPr b="0" lang="en-US" sz="1200" strike="noStrike" u="none">
                <a:solidFill>
                  <a:srgbClr val="61615c"/>
                </a:solidFill>
                <a:effectLst/>
                <a:uFillTx/>
                <a:latin typeface="Tomorrow"/>
                <a:ea typeface="Tomorrow"/>
              </a:rPr>
              <a:t> Título del puesto (opcional pero recomendado)</a:t>
            </a:r>
            <a:endParaRPr b="0" lang="en-US" sz="1200" strike="noStrike" u="none">
              <a:solidFill>
                <a:srgbClr val="000000"/>
              </a:solidFill>
              <a:effectLst/>
              <a:uFillTx/>
              <a:latin typeface="Arial"/>
            </a:endParaRPr>
          </a:p>
        </p:txBody>
      </p:sp>
      <p:sp>
        <p:nvSpPr>
          <p:cNvPr id="264" name="Text 10"/>
          <p:cNvSpPr/>
          <p:nvPr/>
        </p:nvSpPr>
        <p:spPr>
          <a:xfrm>
            <a:off x="7510680" y="2656080"/>
            <a:ext cx="2718000" cy="2401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500" strike="noStrike" u="none">
                <a:solidFill>
                  <a:srgbClr val="1d1d1b"/>
                </a:solidFill>
                <a:effectLst/>
                <a:uFillTx/>
                <a:latin typeface="Tomorrow Semi Bold"/>
                <a:ea typeface="Tomorrow Semi Bold"/>
              </a:rPr>
              <a:t>Configuración de Seguridad</a:t>
            </a:r>
            <a:endParaRPr b="0" lang="en-US" sz="1500" strike="noStrike" u="none">
              <a:solidFill>
                <a:srgbClr val="000000"/>
              </a:solidFill>
              <a:effectLst/>
              <a:uFillTx/>
              <a:latin typeface="Arial"/>
            </a:endParaRPr>
          </a:p>
        </p:txBody>
      </p:sp>
      <p:sp>
        <p:nvSpPr>
          <p:cNvPr id="265" name="Text 11"/>
          <p:cNvSpPr/>
          <p:nvPr/>
        </p:nvSpPr>
        <p:spPr>
          <a:xfrm>
            <a:off x="7510680" y="3050280"/>
            <a:ext cx="6511320" cy="24588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Contraseña Inicial - Dos Opciones:</a:t>
            </a:r>
            <a:endParaRPr b="0" lang="en-US" sz="1200" strike="noStrike" u="none">
              <a:solidFill>
                <a:srgbClr val="000000"/>
              </a:solidFill>
              <a:effectLst/>
              <a:uFillTx/>
              <a:latin typeface="Arial"/>
            </a:endParaRPr>
          </a:p>
        </p:txBody>
      </p:sp>
      <p:sp>
        <p:nvSpPr>
          <p:cNvPr id="266" name="Text 12"/>
          <p:cNvSpPr/>
          <p:nvPr/>
        </p:nvSpPr>
        <p:spPr>
          <a:xfrm>
            <a:off x="7510680" y="3435120"/>
            <a:ext cx="6511320" cy="492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Generación Automática (Recomendado):</a:t>
            </a:r>
            <a:r>
              <a:rPr b="0" lang="en-US" sz="1200" strike="noStrike" u="none">
                <a:solidFill>
                  <a:srgbClr val="61615c"/>
                </a:solidFill>
                <a:effectLst/>
                <a:uFillTx/>
                <a:latin typeface="Tomorrow"/>
                <a:ea typeface="Tomorrow"/>
              </a:rPr>
              <a:t> El sistema crea una contraseña segura aleatoria (ej: Kx9#mP2$qL4@) enviada por correo. Máxima seguridad.</a:t>
            </a:r>
            <a:endParaRPr b="0" lang="en-US" sz="1200" strike="noStrike" u="none">
              <a:solidFill>
                <a:srgbClr val="000000"/>
              </a:solidFill>
              <a:effectLst/>
              <a:uFillTx/>
              <a:latin typeface="Arial"/>
            </a:endParaRPr>
          </a:p>
        </p:txBody>
      </p:sp>
      <p:sp>
        <p:nvSpPr>
          <p:cNvPr id="267" name="Text 13"/>
          <p:cNvSpPr/>
          <p:nvPr/>
        </p:nvSpPr>
        <p:spPr>
          <a:xfrm>
            <a:off x="7510680" y="3981240"/>
            <a:ext cx="6511320" cy="492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Contraseña Manual:</a:t>
            </a:r>
            <a:r>
              <a:rPr b="0" lang="en-US" sz="1200" strike="noStrike" u="none">
                <a:solidFill>
                  <a:srgbClr val="61615c"/>
                </a:solidFill>
                <a:effectLst/>
                <a:uFillTx/>
                <a:latin typeface="Tomorrow"/>
                <a:ea typeface="Tomorrow"/>
              </a:rPr>
              <a:t> Usted define la contraseña inicial cumpliendo requisitos: mínimo 8 caracteres, mayúsculas, minúsculas, números y caracteres especiales.</a:t>
            </a:r>
            <a:endParaRPr b="0" lang="en-US" sz="1200" strike="noStrike" u="none">
              <a:solidFill>
                <a:srgbClr val="000000"/>
              </a:solidFill>
              <a:effectLst/>
              <a:uFillTx/>
              <a:latin typeface="Arial"/>
            </a:endParaRPr>
          </a:p>
        </p:txBody>
      </p:sp>
      <p:sp>
        <p:nvSpPr>
          <p:cNvPr id="268" name="Text 14"/>
          <p:cNvSpPr/>
          <p:nvPr/>
        </p:nvSpPr>
        <p:spPr>
          <a:xfrm>
            <a:off x="7510680" y="4611960"/>
            <a:ext cx="6511320" cy="492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1" lang="en-US" sz="1200" strike="noStrike" u="none">
                <a:solidFill>
                  <a:srgbClr val="61615c"/>
                </a:solidFill>
                <a:effectLst/>
                <a:uFillTx/>
                <a:latin typeface="Tomorrow"/>
                <a:ea typeface="Tomorrow"/>
              </a:rPr>
              <a:t>Cambio Obligatorio:</a:t>
            </a:r>
            <a:r>
              <a:rPr b="0" lang="en-US" sz="1200" strike="noStrike" u="none">
                <a:solidFill>
                  <a:srgbClr val="61615c"/>
                </a:solidFill>
                <a:effectLst/>
                <a:uFillTx/>
                <a:latin typeface="Tomorrow"/>
                <a:ea typeface="Tomorrow"/>
              </a:rPr>
              <a:t> Marque esta opción para que en el primer inicio, el usuario deba cambiar su contraseña. Solo el usuario conocerá su contraseña final.</a:t>
            </a:r>
            <a:endParaRPr b="0" lang="en-US" sz="1200" strike="noStrike" u="none">
              <a:solidFill>
                <a:srgbClr val="000000"/>
              </a:solidFill>
              <a:effectLst/>
              <a:uFillTx/>
              <a:latin typeface="Arial"/>
            </a:endParaRPr>
          </a:p>
        </p:txBody>
      </p:sp>
      <p:sp>
        <p:nvSpPr>
          <p:cNvPr id="269" name="Shape 15"/>
          <p:cNvSpPr/>
          <p:nvPr/>
        </p:nvSpPr>
        <p:spPr>
          <a:xfrm>
            <a:off x="615600" y="6610680"/>
            <a:ext cx="13398840" cy="22680"/>
          </a:xfrm>
          <a:prstGeom prst="roundRect">
            <a:avLst>
              <a:gd name="adj" fmla="val 101013"/>
            </a:avLst>
          </a:prstGeom>
          <a:solidFill>
            <a:srgbClr val="d6d0d0"/>
          </a:solidFill>
          <a:ln w="0">
            <a:noFill/>
          </a:ln>
        </p:spPr>
        <p:style>
          <a:lnRef idx="0"/>
          <a:fillRef idx="0"/>
          <a:effectRef idx="0"/>
          <a:fontRef idx="minor"/>
        </p:style>
        <p:txBody>
          <a:bodyPr lIns="90000" rIns="90000" tIns="-28800" bIns="-28800" anchor="t">
            <a:noAutofit/>
          </a:bodyPr>
          <a:p>
            <a:endParaRPr b="0" lang="en-US" sz="1800" strike="noStrike" u="none">
              <a:solidFill>
                <a:srgbClr val="000000"/>
              </a:solidFill>
              <a:effectLst/>
              <a:uFillTx/>
              <a:latin typeface="Arial"/>
            </a:endParaRPr>
          </a:p>
        </p:txBody>
      </p:sp>
      <p:sp>
        <p:nvSpPr>
          <p:cNvPr id="270" name="Shape 16"/>
          <p:cNvSpPr/>
          <p:nvPr/>
        </p:nvSpPr>
        <p:spPr>
          <a:xfrm>
            <a:off x="3225960" y="6149160"/>
            <a:ext cx="22680" cy="461520"/>
          </a:xfrm>
          <a:prstGeom prst="roundRect">
            <a:avLst>
              <a:gd name="adj" fmla="val 101013"/>
            </a:avLst>
          </a:prstGeom>
          <a:solidFill>
            <a:srgbClr val="d6d0d0"/>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1" name="Shape 17"/>
          <p:cNvSpPr/>
          <p:nvPr/>
        </p:nvSpPr>
        <p:spPr>
          <a:xfrm>
            <a:off x="3064320" y="6437520"/>
            <a:ext cx="345960" cy="345960"/>
          </a:xfrm>
          <a:prstGeom prst="roundRect">
            <a:avLst>
              <a:gd name="adj" fmla="val 6667"/>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2" name="Text 18"/>
          <p:cNvSpPr/>
          <p:nvPr/>
        </p:nvSpPr>
        <p:spPr>
          <a:xfrm>
            <a:off x="3122280" y="6466320"/>
            <a:ext cx="230400" cy="288360"/>
          </a:xfrm>
          <a:prstGeom prst="rect">
            <a:avLst/>
          </a:prstGeom>
          <a:noFill/>
          <a:ln w="0">
            <a:noFill/>
          </a:ln>
        </p:spPr>
        <p:style>
          <a:lnRef idx="0"/>
          <a:fillRef idx="0"/>
          <a:effectRef idx="0"/>
          <a:fontRef idx="minor"/>
        </p:style>
        <p:txBody>
          <a:bodyPr wrap="none" lIns="0" rIns="0" tIns="0" bIns="0" anchor="t">
            <a:noAutofit/>
          </a:bodyPr>
          <a:p>
            <a:pPr algn="ctr">
              <a:lnSpc>
                <a:spcPts val="1800"/>
              </a:lnSpc>
              <a:tabLst>
                <a:tab algn="l" pos="0"/>
              </a:tabLst>
            </a:pPr>
            <a:r>
              <a:rPr b="0" lang="en-US" sz="1800" strike="noStrike" u="none">
                <a:solidFill>
                  <a:srgbClr val="61615c"/>
                </a:solidFill>
                <a:effectLst/>
                <a:uFillTx/>
                <a:latin typeface="Tomorrow Semi Bold"/>
                <a:ea typeface="Tomorrow Semi Bold"/>
              </a:rPr>
              <a:t>1</a:t>
            </a:r>
            <a:endParaRPr b="0" lang="en-US" sz="1800" strike="noStrike" u="none">
              <a:solidFill>
                <a:srgbClr val="000000"/>
              </a:solidFill>
              <a:effectLst/>
              <a:uFillTx/>
              <a:latin typeface="Arial"/>
            </a:endParaRPr>
          </a:p>
        </p:txBody>
      </p:sp>
      <p:sp>
        <p:nvSpPr>
          <p:cNvPr id="273" name="Text 19"/>
          <p:cNvSpPr/>
          <p:nvPr/>
        </p:nvSpPr>
        <p:spPr>
          <a:xfrm>
            <a:off x="2275560" y="5416200"/>
            <a:ext cx="1923840" cy="240120"/>
          </a:xfrm>
          <a:prstGeom prst="rect">
            <a:avLst/>
          </a:prstGeom>
          <a:noFill/>
          <a:ln w="0">
            <a:noFill/>
          </a:ln>
        </p:spPr>
        <p:style>
          <a:lnRef idx="0"/>
          <a:fillRef idx="0"/>
          <a:effectRef idx="0"/>
          <a:fontRef idx="minor"/>
        </p:style>
        <p:txBody>
          <a:bodyPr wrap="none" lIns="0" rIns="0" tIns="0" bIns="0" anchor="t">
            <a:noAutofit/>
          </a:bodyPr>
          <a:p>
            <a:pPr algn="ctr">
              <a:lnSpc>
                <a:spcPts val="1851"/>
              </a:lnSpc>
              <a:tabLst>
                <a:tab algn="l" pos="0"/>
              </a:tabLst>
            </a:pPr>
            <a:r>
              <a:rPr b="0" lang="en-US" sz="1500" strike="noStrike" u="none">
                <a:solidFill>
                  <a:srgbClr val="61615c"/>
                </a:solidFill>
                <a:effectLst/>
                <a:uFillTx/>
                <a:latin typeface="Tomorrow Semi Bold"/>
                <a:ea typeface="Tomorrow Semi Bold"/>
              </a:rPr>
              <a:t>Crear Usuario</a:t>
            </a:r>
            <a:endParaRPr b="0" lang="en-US" sz="1500" strike="noStrike" u="none">
              <a:solidFill>
                <a:srgbClr val="000000"/>
              </a:solidFill>
              <a:effectLst/>
              <a:uFillTx/>
              <a:latin typeface="Arial"/>
            </a:endParaRPr>
          </a:p>
        </p:txBody>
      </p:sp>
      <p:sp>
        <p:nvSpPr>
          <p:cNvPr id="274" name="Text 20"/>
          <p:cNvSpPr/>
          <p:nvPr/>
        </p:nvSpPr>
        <p:spPr>
          <a:xfrm>
            <a:off x="769680" y="5748840"/>
            <a:ext cx="4935960" cy="245880"/>
          </a:xfrm>
          <a:prstGeom prst="rect">
            <a:avLst/>
          </a:prstGeom>
          <a:noFill/>
          <a:ln w="0">
            <a:noFill/>
          </a:ln>
        </p:spPr>
        <p:style>
          <a:lnRef idx="0"/>
          <a:fillRef idx="0"/>
          <a:effectRef idx="0"/>
          <a:fontRef idx="minor"/>
        </p:style>
        <p:txBody>
          <a:bodyPr wrap="none" lIns="0" rIns="0" tIns="0" bIns="0" anchor="t">
            <a:noAutofit/>
          </a:bodyPr>
          <a:p>
            <a:pPr algn="ctr">
              <a:lnSpc>
                <a:spcPts val="1899"/>
              </a:lnSpc>
              <a:tabLst>
                <a:tab algn="l" pos="0"/>
              </a:tabLst>
            </a:pPr>
            <a:r>
              <a:rPr b="0" lang="en-US" sz="1200" strike="noStrike" u="none">
                <a:solidFill>
                  <a:srgbClr val="61615c"/>
                </a:solidFill>
                <a:effectLst/>
                <a:uFillTx/>
                <a:latin typeface="Tomorrow"/>
                <a:ea typeface="Tomorrow"/>
              </a:rPr>
              <a:t>Complete datos y configure seguridad</a:t>
            </a:r>
            <a:endParaRPr b="0" lang="en-US" sz="1200" strike="noStrike" u="none">
              <a:solidFill>
                <a:srgbClr val="000000"/>
              </a:solidFill>
              <a:effectLst/>
              <a:uFillTx/>
              <a:latin typeface="Arial"/>
            </a:endParaRPr>
          </a:p>
        </p:txBody>
      </p:sp>
      <p:sp>
        <p:nvSpPr>
          <p:cNvPr id="275" name="Shape 21"/>
          <p:cNvSpPr/>
          <p:nvPr/>
        </p:nvSpPr>
        <p:spPr>
          <a:xfrm>
            <a:off x="5944320" y="6610680"/>
            <a:ext cx="22680" cy="461520"/>
          </a:xfrm>
          <a:prstGeom prst="roundRect">
            <a:avLst>
              <a:gd name="adj" fmla="val 101013"/>
            </a:avLst>
          </a:prstGeom>
          <a:solidFill>
            <a:srgbClr val="d6d0d0"/>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6" name="Shape 22"/>
          <p:cNvSpPr/>
          <p:nvPr/>
        </p:nvSpPr>
        <p:spPr>
          <a:xfrm>
            <a:off x="5782680" y="6437520"/>
            <a:ext cx="345960" cy="345960"/>
          </a:xfrm>
          <a:prstGeom prst="roundRect">
            <a:avLst>
              <a:gd name="adj" fmla="val 6667"/>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7" name="Text 23"/>
          <p:cNvSpPr/>
          <p:nvPr/>
        </p:nvSpPr>
        <p:spPr>
          <a:xfrm>
            <a:off x="5840280" y="6466320"/>
            <a:ext cx="230400" cy="288360"/>
          </a:xfrm>
          <a:prstGeom prst="rect">
            <a:avLst/>
          </a:prstGeom>
          <a:noFill/>
          <a:ln w="0">
            <a:noFill/>
          </a:ln>
        </p:spPr>
        <p:style>
          <a:lnRef idx="0"/>
          <a:fillRef idx="0"/>
          <a:effectRef idx="0"/>
          <a:fontRef idx="minor"/>
        </p:style>
        <p:txBody>
          <a:bodyPr wrap="none" lIns="0" rIns="0" tIns="0" bIns="0" anchor="t">
            <a:noAutofit/>
          </a:bodyPr>
          <a:p>
            <a:pPr algn="ctr">
              <a:lnSpc>
                <a:spcPts val="1800"/>
              </a:lnSpc>
              <a:tabLst>
                <a:tab algn="l" pos="0"/>
              </a:tabLst>
            </a:pPr>
            <a:r>
              <a:rPr b="0" lang="en-US" sz="1800" strike="noStrike" u="none">
                <a:solidFill>
                  <a:srgbClr val="61615c"/>
                </a:solidFill>
                <a:effectLst/>
                <a:uFillTx/>
                <a:latin typeface="Tomorrow Semi Bold"/>
                <a:ea typeface="Tomorrow Semi Bold"/>
              </a:rPr>
              <a:t>2</a:t>
            </a:r>
            <a:endParaRPr b="0" lang="en-US" sz="1800" strike="noStrike" u="none">
              <a:solidFill>
                <a:srgbClr val="000000"/>
              </a:solidFill>
              <a:effectLst/>
              <a:uFillTx/>
              <a:latin typeface="Arial"/>
            </a:endParaRPr>
          </a:p>
        </p:txBody>
      </p:sp>
      <p:sp>
        <p:nvSpPr>
          <p:cNvPr id="278" name="Text 24"/>
          <p:cNvSpPr/>
          <p:nvPr/>
        </p:nvSpPr>
        <p:spPr>
          <a:xfrm>
            <a:off x="4993920" y="7226640"/>
            <a:ext cx="1923840" cy="240120"/>
          </a:xfrm>
          <a:prstGeom prst="rect">
            <a:avLst/>
          </a:prstGeom>
          <a:noFill/>
          <a:ln w="0">
            <a:noFill/>
          </a:ln>
        </p:spPr>
        <p:style>
          <a:lnRef idx="0"/>
          <a:fillRef idx="0"/>
          <a:effectRef idx="0"/>
          <a:fontRef idx="minor"/>
        </p:style>
        <p:txBody>
          <a:bodyPr wrap="none" lIns="0" rIns="0" tIns="0" bIns="0" anchor="t">
            <a:noAutofit/>
          </a:bodyPr>
          <a:p>
            <a:pPr algn="ctr">
              <a:lnSpc>
                <a:spcPts val="1851"/>
              </a:lnSpc>
              <a:tabLst>
                <a:tab algn="l" pos="0"/>
              </a:tabLst>
            </a:pPr>
            <a:r>
              <a:rPr b="0" lang="en-US" sz="1500" strike="noStrike" u="none">
                <a:solidFill>
                  <a:srgbClr val="61615c"/>
                </a:solidFill>
                <a:effectLst/>
                <a:uFillTx/>
                <a:latin typeface="Tomorrow Semi Bold"/>
                <a:ea typeface="Tomorrow Semi Bold"/>
              </a:rPr>
              <a:t>Asignar Roles</a:t>
            </a:r>
            <a:endParaRPr b="0" lang="en-US" sz="1500" strike="noStrike" u="none">
              <a:solidFill>
                <a:srgbClr val="000000"/>
              </a:solidFill>
              <a:effectLst/>
              <a:uFillTx/>
              <a:latin typeface="Arial"/>
            </a:endParaRPr>
          </a:p>
        </p:txBody>
      </p:sp>
      <p:sp>
        <p:nvSpPr>
          <p:cNvPr id="279" name="Text 25"/>
          <p:cNvSpPr/>
          <p:nvPr/>
        </p:nvSpPr>
        <p:spPr>
          <a:xfrm>
            <a:off x="3487680" y="7559280"/>
            <a:ext cx="4936320" cy="245880"/>
          </a:xfrm>
          <a:prstGeom prst="rect">
            <a:avLst/>
          </a:prstGeom>
          <a:noFill/>
          <a:ln w="0">
            <a:noFill/>
          </a:ln>
        </p:spPr>
        <p:style>
          <a:lnRef idx="0"/>
          <a:fillRef idx="0"/>
          <a:effectRef idx="0"/>
          <a:fontRef idx="minor"/>
        </p:style>
        <p:txBody>
          <a:bodyPr wrap="none" lIns="0" rIns="0" tIns="0" bIns="0" anchor="t">
            <a:noAutofit/>
          </a:bodyPr>
          <a:p>
            <a:pPr algn="ctr">
              <a:lnSpc>
                <a:spcPts val="1899"/>
              </a:lnSpc>
              <a:tabLst>
                <a:tab algn="l" pos="0"/>
              </a:tabLst>
            </a:pPr>
            <a:r>
              <a:rPr b="0" lang="en-US" sz="1200" strike="noStrike" u="none">
                <a:solidFill>
                  <a:srgbClr val="61615c"/>
                </a:solidFill>
                <a:effectLst/>
                <a:uFillTx/>
                <a:latin typeface="Tomorrow"/>
                <a:ea typeface="Tomorrow"/>
              </a:rPr>
              <a:t>Seleccione uno o varios roles según funciones</a:t>
            </a:r>
            <a:endParaRPr b="0" lang="en-US" sz="1200" strike="noStrike" u="none">
              <a:solidFill>
                <a:srgbClr val="000000"/>
              </a:solidFill>
              <a:effectLst/>
              <a:uFillTx/>
              <a:latin typeface="Arial"/>
            </a:endParaRPr>
          </a:p>
        </p:txBody>
      </p:sp>
      <p:sp>
        <p:nvSpPr>
          <p:cNvPr id="280" name="Shape 26"/>
          <p:cNvSpPr/>
          <p:nvPr/>
        </p:nvSpPr>
        <p:spPr>
          <a:xfrm>
            <a:off x="8662680" y="6149160"/>
            <a:ext cx="22680" cy="461520"/>
          </a:xfrm>
          <a:prstGeom prst="roundRect">
            <a:avLst>
              <a:gd name="adj" fmla="val 101013"/>
            </a:avLst>
          </a:prstGeom>
          <a:solidFill>
            <a:srgbClr val="d6d0d0"/>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1" name="Shape 27"/>
          <p:cNvSpPr/>
          <p:nvPr/>
        </p:nvSpPr>
        <p:spPr>
          <a:xfrm>
            <a:off x="8501040" y="6437520"/>
            <a:ext cx="345960" cy="345960"/>
          </a:xfrm>
          <a:prstGeom prst="roundRect">
            <a:avLst>
              <a:gd name="adj" fmla="val 6667"/>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2" name="Text 28"/>
          <p:cNvSpPr/>
          <p:nvPr/>
        </p:nvSpPr>
        <p:spPr>
          <a:xfrm>
            <a:off x="8558640" y="6466320"/>
            <a:ext cx="230400" cy="288360"/>
          </a:xfrm>
          <a:prstGeom prst="rect">
            <a:avLst/>
          </a:prstGeom>
          <a:noFill/>
          <a:ln w="0">
            <a:noFill/>
          </a:ln>
        </p:spPr>
        <p:style>
          <a:lnRef idx="0"/>
          <a:fillRef idx="0"/>
          <a:effectRef idx="0"/>
          <a:fontRef idx="minor"/>
        </p:style>
        <p:txBody>
          <a:bodyPr wrap="none" lIns="0" rIns="0" tIns="0" bIns="0" anchor="t">
            <a:noAutofit/>
          </a:bodyPr>
          <a:p>
            <a:pPr algn="ctr">
              <a:lnSpc>
                <a:spcPts val="1800"/>
              </a:lnSpc>
              <a:tabLst>
                <a:tab algn="l" pos="0"/>
              </a:tabLst>
            </a:pPr>
            <a:r>
              <a:rPr b="0" lang="en-US" sz="1800" strike="noStrike" u="none">
                <a:solidFill>
                  <a:srgbClr val="61615c"/>
                </a:solidFill>
                <a:effectLst/>
                <a:uFillTx/>
                <a:latin typeface="Tomorrow Semi Bold"/>
                <a:ea typeface="Tomorrow Semi Bold"/>
              </a:rPr>
              <a:t>3</a:t>
            </a:r>
            <a:endParaRPr b="0" lang="en-US" sz="1800" strike="noStrike" u="none">
              <a:solidFill>
                <a:srgbClr val="000000"/>
              </a:solidFill>
              <a:effectLst/>
              <a:uFillTx/>
              <a:latin typeface="Arial"/>
            </a:endParaRPr>
          </a:p>
        </p:txBody>
      </p:sp>
      <p:sp>
        <p:nvSpPr>
          <p:cNvPr id="283" name="Text 29"/>
          <p:cNvSpPr/>
          <p:nvPr/>
        </p:nvSpPr>
        <p:spPr>
          <a:xfrm>
            <a:off x="7712280" y="5416200"/>
            <a:ext cx="1923840" cy="240120"/>
          </a:xfrm>
          <a:prstGeom prst="rect">
            <a:avLst/>
          </a:prstGeom>
          <a:noFill/>
          <a:ln w="0">
            <a:noFill/>
          </a:ln>
        </p:spPr>
        <p:style>
          <a:lnRef idx="0"/>
          <a:fillRef idx="0"/>
          <a:effectRef idx="0"/>
          <a:fontRef idx="minor"/>
        </p:style>
        <p:txBody>
          <a:bodyPr wrap="none" lIns="0" rIns="0" tIns="0" bIns="0" anchor="t">
            <a:noAutofit/>
          </a:bodyPr>
          <a:p>
            <a:pPr algn="ctr">
              <a:lnSpc>
                <a:spcPts val="1851"/>
              </a:lnSpc>
              <a:tabLst>
                <a:tab algn="l" pos="0"/>
              </a:tabLst>
            </a:pPr>
            <a:r>
              <a:rPr b="0" lang="en-US" sz="1500" strike="noStrike" u="none">
                <a:solidFill>
                  <a:srgbClr val="61615c"/>
                </a:solidFill>
                <a:effectLst/>
                <a:uFillTx/>
                <a:latin typeface="Tomorrow Semi Bold"/>
                <a:ea typeface="Tomorrow Semi Bold"/>
              </a:rPr>
              <a:t>Enviar Invitación</a:t>
            </a:r>
            <a:endParaRPr b="0" lang="en-US" sz="1500" strike="noStrike" u="none">
              <a:solidFill>
                <a:srgbClr val="000000"/>
              </a:solidFill>
              <a:effectLst/>
              <a:uFillTx/>
              <a:latin typeface="Arial"/>
            </a:endParaRPr>
          </a:p>
        </p:txBody>
      </p:sp>
      <p:sp>
        <p:nvSpPr>
          <p:cNvPr id="284" name="Text 30"/>
          <p:cNvSpPr/>
          <p:nvPr/>
        </p:nvSpPr>
        <p:spPr>
          <a:xfrm>
            <a:off x="6206040" y="5748840"/>
            <a:ext cx="4936320" cy="245880"/>
          </a:xfrm>
          <a:prstGeom prst="rect">
            <a:avLst/>
          </a:prstGeom>
          <a:noFill/>
          <a:ln w="0">
            <a:noFill/>
          </a:ln>
        </p:spPr>
        <p:style>
          <a:lnRef idx="0"/>
          <a:fillRef idx="0"/>
          <a:effectRef idx="0"/>
          <a:fontRef idx="minor"/>
        </p:style>
        <p:txBody>
          <a:bodyPr wrap="none" lIns="0" rIns="0" tIns="0" bIns="0" anchor="t">
            <a:noAutofit/>
          </a:bodyPr>
          <a:p>
            <a:pPr algn="ctr">
              <a:lnSpc>
                <a:spcPts val="1899"/>
              </a:lnSpc>
              <a:tabLst>
                <a:tab algn="l" pos="0"/>
              </a:tabLst>
            </a:pPr>
            <a:r>
              <a:rPr b="0" lang="en-US" sz="1200" strike="noStrike" u="none">
                <a:solidFill>
                  <a:srgbClr val="61615c"/>
                </a:solidFill>
                <a:effectLst/>
                <a:uFillTx/>
                <a:latin typeface="Tomorrow"/>
                <a:ea typeface="Tomorrow"/>
              </a:rPr>
              <a:t>Sistema envía correo con credenciales</a:t>
            </a:r>
            <a:endParaRPr b="0" lang="en-US" sz="1200" strike="noStrike" u="none">
              <a:solidFill>
                <a:srgbClr val="000000"/>
              </a:solidFill>
              <a:effectLst/>
              <a:uFillTx/>
              <a:latin typeface="Arial"/>
            </a:endParaRPr>
          </a:p>
        </p:txBody>
      </p:sp>
      <p:sp>
        <p:nvSpPr>
          <p:cNvPr id="285" name="Shape 31"/>
          <p:cNvSpPr/>
          <p:nvPr/>
        </p:nvSpPr>
        <p:spPr>
          <a:xfrm>
            <a:off x="11381040" y="6610680"/>
            <a:ext cx="22680" cy="461520"/>
          </a:xfrm>
          <a:prstGeom prst="roundRect">
            <a:avLst>
              <a:gd name="adj" fmla="val 101013"/>
            </a:avLst>
          </a:prstGeom>
          <a:solidFill>
            <a:srgbClr val="d6d0d0"/>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6" name="Shape 32"/>
          <p:cNvSpPr/>
          <p:nvPr/>
        </p:nvSpPr>
        <p:spPr>
          <a:xfrm>
            <a:off x="11219400" y="6437520"/>
            <a:ext cx="345960" cy="345960"/>
          </a:xfrm>
          <a:prstGeom prst="roundRect">
            <a:avLst>
              <a:gd name="adj" fmla="val 6667"/>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7" name="Text 33"/>
          <p:cNvSpPr/>
          <p:nvPr/>
        </p:nvSpPr>
        <p:spPr>
          <a:xfrm>
            <a:off x="11277000" y="6466320"/>
            <a:ext cx="230400" cy="288360"/>
          </a:xfrm>
          <a:prstGeom prst="rect">
            <a:avLst/>
          </a:prstGeom>
          <a:noFill/>
          <a:ln w="0">
            <a:noFill/>
          </a:ln>
        </p:spPr>
        <p:style>
          <a:lnRef idx="0"/>
          <a:fillRef idx="0"/>
          <a:effectRef idx="0"/>
          <a:fontRef idx="minor"/>
        </p:style>
        <p:txBody>
          <a:bodyPr wrap="none" lIns="0" rIns="0" tIns="0" bIns="0" anchor="t">
            <a:noAutofit/>
          </a:bodyPr>
          <a:p>
            <a:pPr algn="ctr">
              <a:lnSpc>
                <a:spcPts val="1800"/>
              </a:lnSpc>
              <a:tabLst>
                <a:tab algn="l" pos="0"/>
              </a:tabLst>
            </a:pPr>
            <a:r>
              <a:rPr b="0" lang="en-US" sz="1800" strike="noStrike" u="none">
                <a:solidFill>
                  <a:srgbClr val="61615c"/>
                </a:solidFill>
                <a:effectLst/>
                <a:uFillTx/>
                <a:latin typeface="Tomorrow Semi Bold"/>
                <a:ea typeface="Tomorrow Semi Bold"/>
              </a:rPr>
              <a:t>4</a:t>
            </a:r>
            <a:endParaRPr b="0" lang="en-US" sz="1800" strike="noStrike" u="none">
              <a:solidFill>
                <a:srgbClr val="000000"/>
              </a:solidFill>
              <a:effectLst/>
              <a:uFillTx/>
              <a:latin typeface="Arial"/>
            </a:endParaRPr>
          </a:p>
        </p:txBody>
      </p:sp>
      <p:sp>
        <p:nvSpPr>
          <p:cNvPr id="288" name="Text 34"/>
          <p:cNvSpPr/>
          <p:nvPr/>
        </p:nvSpPr>
        <p:spPr>
          <a:xfrm>
            <a:off x="10430640" y="7226640"/>
            <a:ext cx="1923840" cy="240120"/>
          </a:xfrm>
          <a:prstGeom prst="rect">
            <a:avLst/>
          </a:prstGeom>
          <a:noFill/>
          <a:ln w="0">
            <a:noFill/>
          </a:ln>
        </p:spPr>
        <p:style>
          <a:lnRef idx="0"/>
          <a:fillRef idx="0"/>
          <a:effectRef idx="0"/>
          <a:fontRef idx="minor"/>
        </p:style>
        <p:txBody>
          <a:bodyPr wrap="none" lIns="0" rIns="0" tIns="0" bIns="0" anchor="t">
            <a:noAutofit/>
          </a:bodyPr>
          <a:p>
            <a:pPr algn="ctr">
              <a:lnSpc>
                <a:spcPts val="1851"/>
              </a:lnSpc>
              <a:tabLst>
                <a:tab algn="l" pos="0"/>
              </a:tabLst>
            </a:pPr>
            <a:r>
              <a:rPr b="0" lang="en-US" sz="1500" strike="noStrike" u="none">
                <a:solidFill>
                  <a:srgbClr val="61615c"/>
                </a:solidFill>
                <a:effectLst/>
                <a:uFillTx/>
                <a:latin typeface="Tomorrow Semi Bold"/>
                <a:ea typeface="Tomorrow Semi Bold"/>
              </a:rPr>
              <a:t>Primer Acceso</a:t>
            </a:r>
            <a:endParaRPr b="0" lang="en-US" sz="1500" strike="noStrike" u="none">
              <a:solidFill>
                <a:srgbClr val="000000"/>
              </a:solidFill>
              <a:effectLst/>
              <a:uFillTx/>
              <a:latin typeface="Arial"/>
            </a:endParaRPr>
          </a:p>
        </p:txBody>
      </p:sp>
      <p:sp>
        <p:nvSpPr>
          <p:cNvPr id="289" name="Text 35"/>
          <p:cNvSpPr/>
          <p:nvPr/>
        </p:nvSpPr>
        <p:spPr>
          <a:xfrm>
            <a:off x="8924400" y="7559280"/>
            <a:ext cx="4936320" cy="245880"/>
          </a:xfrm>
          <a:prstGeom prst="rect">
            <a:avLst/>
          </a:prstGeom>
          <a:noFill/>
          <a:ln w="0">
            <a:noFill/>
          </a:ln>
        </p:spPr>
        <p:style>
          <a:lnRef idx="0"/>
          <a:fillRef idx="0"/>
          <a:effectRef idx="0"/>
          <a:fontRef idx="minor"/>
        </p:style>
        <p:txBody>
          <a:bodyPr wrap="none" lIns="0" rIns="0" tIns="0" bIns="0" anchor="t">
            <a:noAutofit/>
          </a:bodyPr>
          <a:p>
            <a:pPr algn="ctr">
              <a:lnSpc>
                <a:spcPts val="1899"/>
              </a:lnSpc>
              <a:tabLst>
                <a:tab algn="l" pos="0"/>
              </a:tabLst>
            </a:pPr>
            <a:r>
              <a:rPr b="0" lang="en-US" sz="1200" strike="noStrike" u="none">
                <a:solidFill>
                  <a:srgbClr val="61615c"/>
                </a:solidFill>
                <a:effectLst/>
                <a:uFillTx/>
                <a:latin typeface="Tomorrow"/>
                <a:ea typeface="Tomorrow"/>
              </a:rPr>
              <a:t>Usuario cambia contraseña y accede</a:t>
            </a:r>
            <a:endParaRPr b="0" lang="en-US" sz="1200" strike="noStrike" u="none">
              <a:solidFill>
                <a:srgbClr val="000000"/>
              </a:solidFill>
              <a:effectLst/>
              <a:uFillTx/>
              <a:latin typeface="Arial"/>
            </a:endParaRPr>
          </a:p>
        </p:txBody>
      </p:sp>
      <p:pic>
        <p:nvPicPr>
          <p:cNvPr id="290" name="" descr=""/>
          <p:cNvPicPr/>
          <p:nvPr/>
        </p:nvPicPr>
        <p:blipFill>
          <a:blip r:embed="rId1"/>
          <a:stretch/>
        </p:blipFill>
        <p:spPr>
          <a:xfrm>
            <a:off x="12801600" y="7772760"/>
            <a:ext cx="1828800" cy="4474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LibreOffice/25.8.3.2$Windows_X86_64 LibreOffice_project/8ca8d55c161d602844f5428fa4b58097424e324e</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2026-01-01T18:41:28Z</dcterms:created>
  <dc:creator/>
  <dc:description/>
  <dc:language>en-US</dc:language>
  <cp:lastModifiedBy/>
  <dcterms:modified xsi:type="dcterms:W3CDTF">2026-01-01T13:42:24Z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