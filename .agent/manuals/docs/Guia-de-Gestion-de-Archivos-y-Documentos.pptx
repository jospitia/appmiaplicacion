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8.png" ContentType="image/png"/>
  <Override PartName="/ppt/media/image1.png" ContentType="image/png"/>
  <Override PartName="/ppt/media/image41.png" ContentType="image/png"/>
  <Override PartName="/ppt/media/image5.png" ContentType="image/png"/>
  <Override PartName="/ppt/media/image14.png" ContentType="image/png"/>
  <Override PartName="/ppt/media/image7.svg" ContentType="image/svg"/>
  <Override PartName="/ppt/media/image2.png" ContentType="image/png"/>
  <Override PartName="/ppt/media/image3.png" ContentType="image/png"/>
  <Override PartName="/ppt/media/image40.svg" ContentType="image/svg"/>
  <Override PartName="/ppt/media/image16.png" ContentType="image/png"/>
  <Override PartName="/ppt/media/image4.svg" ContentType="image/svg"/>
  <Override PartName="/ppt/media/image6.png" ContentType="image/png"/>
  <Override PartName="/ppt/media/image21.svg" ContentType="image/svg"/>
  <Override PartName="/ppt/media/image8.png" ContentType="image/png"/>
  <Override PartName="/ppt/media/image20.png" ContentType="image/png"/>
  <Override PartName="/ppt/media/image9.svg" ContentType="image/svg"/>
  <Override PartName="/ppt/media/image10.png" ContentType="image/png"/>
  <Override PartName="/ppt/media/image11.svg" ContentType="image/svg"/>
  <Override PartName="/ppt/media/image12.png" ContentType="image/png"/>
  <Override PartName="/ppt/media/image13.png" ContentType="image/png"/>
  <Override PartName="/ppt/media/image15.png" ContentType="image/png"/>
  <Override PartName="/ppt/media/image17.png" ContentType="image/png"/>
  <Override PartName="/ppt/media/image30.svg" ContentType="image/svg"/>
  <Override PartName="/ppt/media/image19.png" ContentType="image/png"/>
  <Override PartName="/ppt/media/image22.png" ContentType="image/png"/>
  <Override PartName="/ppt/media/image23.png" ContentType="image/png"/>
  <Override PartName="/ppt/media/image24.svg" ContentType="image/svg"/>
  <Override PartName="/ppt/media/image25.png" ContentType="image/png"/>
  <Override PartName="/ppt/media/image26.svg" ContentType="image/svg"/>
  <Override PartName="/ppt/media/image27.png" ContentType="image/png"/>
  <Override PartName="/ppt/media/image28.svg" ContentType="image/svg"/>
  <Override PartName="/ppt/media/image29.png" ContentType="image/png"/>
  <Override PartName="/ppt/media/image31.png" ContentType="image/png"/>
  <Override PartName="/ppt/media/image32.svg" ContentType="image/svg"/>
  <Override PartName="/ppt/media/image33.png" ContentType="image/png"/>
  <Override PartName="/ppt/media/image34.svg" ContentType="image/svg"/>
  <Override PartName="/ppt/media/image35.png" ContentType="image/png"/>
  <Override PartName="/ppt/media/image36.svg" ContentType="image/svg"/>
  <Override PartName="/ppt/media/image37.png" ContentType="image/png"/>
  <Override PartName="/ppt/media/image38.svg" ContentType="image/svg"/>
  <Override PartName="/ppt/media/image39.png" ContentType="image/png"/>
  <Override PartName="/ppt/media/image42.svg" ContentType="image/svg"/>
  <Override PartName="/ppt/media/image43.png" ContentType="image/png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fonts/Font_3_Consolas_Regular.fntdata" ContentType="application/x-fontdata"/>
  <Override PartName="/ppt/fonts/Font_4_Microsoft_YaHei_Regular.fntdata" ContentType="application/x-fontdata"/>
  <Override PartName="/ppt/fonts/Font_5_Lucida_Sans_Regular.fntdata" ContentType="application/x-fontdata"/>
  <Override PartName="/ppt/fonts/Font_1_Tomorrow_Regular.fntdata" ContentType="application/x-fontdata"/>
  <Override PartName="/ppt/fonts/Font_2_Calibri_Light_Regular.fntdata" ContentType="application/x-fontdata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Tomorrow"/>
      <p:regular r:id="rId14"/>
      <p:bold r:id="rId14"/>
    </p:embeddedFont>
    <p:embeddedFont>
      <p:font typeface="Tomorrow Semi Bold"/>
    </p:embeddedFont>
    <p:embeddedFont>
      <p:font typeface="Calibri Light"/>
      <p:regular r:id="rId15"/>
    </p:embeddedFont>
    <p:embeddedFont>
      <p:font typeface="Tomorrow Light"/>
    </p:embeddedFont>
    <p:embeddedFont>
      <p:font typeface="Consolas"/>
      <p:regular r:id="rId16"/>
    </p:embeddedFont>
    <p:embeddedFont>
      <p:font typeface="Microsoft YaHei"/>
      <p:regular r:id="rId17"/>
    </p:embeddedFont>
    <p:embeddedFont>
      <p:font typeface="Lucida Sans"/>
      <p:regular r:id="rId1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Tomorrow_Regular.fntdata"/><Relationship Id="rId15" Type="http://schemas.openxmlformats.org/officeDocument/2006/relationships/font" Target="fonts/Font_2_Calibri_Light_Regular.fntdata"/><Relationship Id="rId16" Type="http://schemas.openxmlformats.org/officeDocument/2006/relationships/font" Target="fonts/Font_3_Consolas_Regular.fntdata"/><Relationship Id="rId17" Type="http://schemas.openxmlformats.org/officeDocument/2006/relationships/font" Target="fonts/Font_4_Microsoft_YaHei_Regular.fntdata"/><Relationship Id="rId18" Type="http://schemas.openxmlformats.org/officeDocument/2006/relationships/font" Target="fonts/Font_5_Lucida_Sans_Regular.fntdata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F6A52B-452A-426B-BC70-18FC685957A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8B2635-87BE-4949-BEFE-A736B38D153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704240-A925-4F92-94C3-06F8FF8917F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379BDD-2D21-4D88-BD49-3C87D1AEF53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3D4110-9B29-41D1-96F7-6CF241BC4BE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CD7E34-3048-4143-8CEE-1EAEE8AB46A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C34675-31D8-4054-9D6E-A37238FC836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7A3C00-71B8-4674-8C1B-DBD6D5C28F9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AA03D5-CB89-4595-8374-6313DA8AEC1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229FC9-D9C0-44CE-B503-2804FBEAEC4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7698A1-9825-470E-BF77-728F2CF4086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image" Target="../media/image27.png"/><Relationship Id="rId6" Type="http://schemas.openxmlformats.org/officeDocument/2006/relationships/image" Target="../media/image28.svg"/><Relationship Id="rId7" Type="http://schemas.openxmlformats.org/officeDocument/2006/relationships/image" Target="../media/image29.png"/><Relationship Id="rId8" Type="http://schemas.openxmlformats.org/officeDocument/2006/relationships/image" Target="../media/image30.sv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svg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openxmlformats.org/officeDocument/2006/relationships/image" Target="../media/image38.svg"/><Relationship Id="rId9" Type="http://schemas.openxmlformats.org/officeDocument/2006/relationships/image" Target="../media/image39.png"/><Relationship Id="rId10" Type="http://schemas.openxmlformats.org/officeDocument/2006/relationships/image" Target="../media/image40.svg"/><Relationship Id="rId11" Type="http://schemas.openxmlformats.org/officeDocument/2006/relationships/image" Target="../media/image41.png"/><Relationship Id="rId12" Type="http://schemas.openxmlformats.org/officeDocument/2006/relationships/image" Target="../media/image42.svg"/><Relationship Id="rId13" Type="http://schemas.openxmlformats.org/officeDocument/2006/relationships/image" Target="../media/image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0"/>
          <p:cNvSpPr/>
          <p:nvPr/>
        </p:nvSpPr>
        <p:spPr>
          <a:xfrm>
            <a:off x="793800" y="2869560"/>
            <a:ext cx="7556040" cy="12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850"/>
              </a:lnSpc>
              <a:tabLst>
                <a:tab algn="l" pos="0"/>
              </a:tabLst>
            </a:pPr>
            <a:r>
              <a:rPr b="0" lang="en-US" sz="39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Guía de Gestión de Archivos y Documentos</a:t>
            </a:r>
            <a:endParaRPr b="0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793800" y="4407480"/>
            <a:ext cx="75560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Descubre cómo funciona nuestro sistema de almacenamiento seguro, qué puedes subir, cómo acceder a tus documentos y por qué nuestras decisiones técnicas protegen tu información empresarial.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793800" y="1261080"/>
            <a:ext cx="1491120" cy="372960"/>
          </a:xfrm>
          <a:prstGeom prst="roundRect">
            <a:avLst>
              <a:gd name="adj" fmla="val 6383"/>
            </a:avLst>
          </a:prstGeom>
          <a:solidFill>
            <a:srgbClr val="e6e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12960" y="1368360"/>
            <a:ext cx="158400" cy="1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"/>
          <p:cNvSpPr/>
          <p:nvPr/>
        </p:nvSpPr>
        <p:spPr>
          <a:xfrm>
            <a:off x="1150920" y="1320480"/>
            <a:ext cx="10152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CONTENIDOS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793800" y="1713600"/>
            <a:ext cx="627336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9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Lo que aprenderás en esta guía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793800" y="2507400"/>
            <a:ext cx="198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01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793800" y="2821680"/>
            <a:ext cx="6422040" cy="2268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793800" y="2966400"/>
            <a:ext cx="36406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Tipos de archivos permitidos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793800" y="3395880"/>
            <a:ext cx="6422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Formatos aceptados y restricciones de seguridad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7414200" y="2507400"/>
            <a:ext cx="198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02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7414200" y="2821680"/>
            <a:ext cx="6422040" cy="2268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7414200" y="2966400"/>
            <a:ext cx="280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Límites y capacidades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7414200" y="3395880"/>
            <a:ext cx="6422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Tamaños máximos y planes de almacenamiento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793800" y="4060440"/>
            <a:ext cx="198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03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793800" y="4374720"/>
            <a:ext cx="6422040" cy="2268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793800" y="4519800"/>
            <a:ext cx="2480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Métodos de carga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793800" y="4948920"/>
            <a:ext cx="6422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Cómo subir archivos de forma eficiente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7414200" y="4060440"/>
            <a:ext cx="198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04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7414200" y="4374720"/>
            <a:ext cx="6422040" cy="2268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7414200" y="4519800"/>
            <a:ext cx="2480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Acceso seguro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7414200" y="4948920"/>
            <a:ext cx="6422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Localización y descarga de documentos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793800" y="5613840"/>
            <a:ext cx="198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05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793800" y="5928120"/>
            <a:ext cx="6422040" cy="2268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793800" y="6072840"/>
            <a:ext cx="2588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Seguridad avanzada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793800" y="6501960"/>
            <a:ext cx="6422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Por qué los enlaces expiran y cómo te protegen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7414200" y="5613840"/>
            <a:ext cx="198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06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4"/>
          <p:cNvSpPr/>
          <p:nvPr/>
        </p:nvSpPr>
        <p:spPr>
          <a:xfrm>
            <a:off x="7414200" y="5928120"/>
            <a:ext cx="6422040" cy="2268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7414200" y="6072840"/>
            <a:ext cx="3200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Resolución de problemas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7414200" y="6501960"/>
            <a:ext cx="6422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Soluciones a errores comunes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3"/>
          <a:stretch/>
        </p:blipFill>
        <p:spPr>
          <a:xfrm>
            <a:off x="12801600" y="7772400"/>
            <a:ext cx="18288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12280" y="352080"/>
            <a:ext cx="378648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Tipos de Archivos Permitidos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12280" y="928440"/>
            <a:ext cx="1360548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La plataforma acepta los formatos más comunes en entornos empresariales, garantizando compatibilidad y seguridad para tu operación diaria.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512280" y="1277640"/>
            <a:ext cx="13605480" cy="1517040"/>
          </a:xfrm>
          <a:prstGeom prst="roundRect">
            <a:avLst>
              <a:gd name="adj" fmla="val 1266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527400" y="1292760"/>
            <a:ext cx="511920" cy="1486440"/>
          </a:xfrm>
          <a:prstGeom prst="roundRect">
            <a:avLst>
              <a:gd name="adj" fmla="val 181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87600" y="1940040"/>
            <a:ext cx="19152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4"/>
          <p:cNvSpPr/>
          <p:nvPr/>
        </p:nvSpPr>
        <p:spPr>
          <a:xfrm>
            <a:off x="1167840" y="1420920"/>
            <a:ext cx="1600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Documentos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1167840" y="169776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PDF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(.pdf) - Contratos, reportes oficiales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167840" y="194724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Word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(.doc, .docx) - Documentos editables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167840" y="219708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Excel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(.xls, .xlsx) - Hojas de cálculo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1167840" y="244656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PowerPoint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(.ppt, .pptx) - Presentaciones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512280" y="2922840"/>
            <a:ext cx="13605480" cy="1517040"/>
          </a:xfrm>
          <a:prstGeom prst="roundRect">
            <a:avLst>
              <a:gd name="adj" fmla="val 1266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527400" y="2937960"/>
            <a:ext cx="511920" cy="1486440"/>
          </a:xfrm>
          <a:prstGeom prst="roundRect">
            <a:avLst>
              <a:gd name="adj" fmla="val 181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7600" y="3585600"/>
            <a:ext cx="19152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11"/>
          <p:cNvSpPr/>
          <p:nvPr/>
        </p:nvSpPr>
        <p:spPr>
          <a:xfrm>
            <a:off x="1167840" y="3066120"/>
            <a:ext cx="1600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Imágenes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1167840" y="334296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PNG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(.png) - Logos con transparencia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1167840" y="359280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JPG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(.jpg, .jpeg) - Fotografías generales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1167840" y="384228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SVG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(.svg) - Gráficos vectoriales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1167840" y="409212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GIF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(.gif) - Imágenes animadas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512280" y="4568040"/>
            <a:ext cx="13605480" cy="1267200"/>
          </a:xfrm>
          <a:prstGeom prst="roundRect">
            <a:avLst>
              <a:gd name="adj" fmla="val 1516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527400" y="4583520"/>
            <a:ext cx="511920" cy="1236960"/>
          </a:xfrm>
          <a:prstGeom prst="roundRect">
            <a:avLst>
              <a:gd name="adj" fmla="val 181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87600" y="5105880"/>
            <a:ext cx="19152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18"/>
          <p:cNvSpPr/>
          <p:nvPr/>
        </p:nvSpPr>
        <p:spPr>
          <a:xfrm>
            <a:off x="1167840" y="4711320"/>
            <a:ext cx="1600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Otros Formatos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1167840" y="498852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CSV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(.csv) - Datos tabulares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1167840" y="523800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TXT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(.txt) - Texto plano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1167840" y="548784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ZIP</a:t>
            </a:r>
            <a:r>
              <a:rPr b="0" lang="en-US" sz="10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(.zip) - Archivos comprimidos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2"/>
          <p:cNvSpPr/>
          <p:nvPr/>
        </p:nvSpPr>
        <p:spPr>
          <a:xfrm>
            <a:off x="512280" y="5963760"/>
            <a:ext cx="13605480" cy="768240"/>
          </a:xfrm>
          <a:prstGeom prst="roundRect">
            <a:avLst>
              <a:gd name="adj" fmla="val 2500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527400" y="5979240"/>
            <a:ext cx="511920" cy="737640"/>
          </a:xfrm>
          <a:prstGeom prst="roundRect">
            <a:avLst>
              <a:gd name="adj" fmla="val 181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 r:embed="rId7"/>
          <a:stretch/>
        </p:blipFill>
        <p:spPr>
          <a:xfrm>
            <a:off x="687600" y="6252120"/>
            <a:ext cx="19152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24"/>
          <p:cNvSpPr/>
          <p:nvPr/>
        </p:nvSpPr>
        <p:spPr>
          <a:xfrm>
            <a:off x="1167840" y="6107040"/>
            <a:ext cx="128066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8"/>
          <a:stretch/>
        </p:blipFill>
        <p:spPr>
          <a:xfrm>
            <a:off x="1257300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8" name=""/>
          <p:cNvGrpSpPr/>
          <p:nvPr/>
        </p:nvGrpSpPr>
        <p:grpSpPr>
          <a:xfrm>
            <a:off x="513000" y="6861240"/>
            <a:ext cx="13605480" cy="1035000"/>
            <a:chOff x="513000" y="6861240"/>
            <a:chExt cx="13605480" cy="1035000"/>
          </a:xfrm>
        </p:grpSpPr>
        <p:sp>
          <p:nvSpPr>
            <p:cNvPr id="119" name="Shape 25"/>
            <p:cNvSpPr/>
            <p:nvPr/>
          </p:nvSpPr>
          <p:spPr>
            <a:xfrm>
              <a:off x="513000" y="6861240"/>
              <a:ext cx="13605480" cy="1035000"/>
            </a:xfrm>
            <a:prstGeom prst="roundRect">
              <a:avLst>
                <a:gd name="adj" fmla="val 1856"/>
              </a:avLst>
            </a:prstGeom>
            <a:solidFill>
              <a:srgbClr val="fcfcfc"/>
            </a:solidFill>
            <a:ln w="15240">
              <a:solidFill>
                <a:srgbClr val="d6d0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Shape 1"/>
            <p:cNvSpPr/>
            <p:nvPr/>
          </p:nvSpPr>
          <p:spPr>
            <a:xfrm>
              <a:off x="528120" y="6876360"/>
              <a:ext cx="511920" cy="1004400"/>
            </a:xfrm>
            <a:prstGeom prst="roundRect">
              <a:avLst>
                <a:gd name="adj" fmla="val 181"/>
              </a:avLst>
            </a:prstGeom>
            <a:solidFill>
              <a:srgbClr val="f0ea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Shape 13"/>
            <p:cNvSpPr/>
            <p:nvPr/>
          </p:nvSpPr>
          <p:spPr>
            <a:xfrm>
              <a:off x="1168560" y="7004160"/>
              <a:ext cx="12806640" cy="748440"/>
            </a:xfrm>
            <a:prstGeom prst="roundRect">
              <a:avLst>
                <a:gd name="adj" fmla="val 2566"/>
              </a:avLst>
            </a:prstGeom>
            <a:solidFill>
              <a:srgbClr val="dada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2" name="Image 6" descr="preencoded.png"/>
            <p:cNvPicPr/>
            <p:nvPr/>
          </p:nvPicPr>
          <p:blipFill>
            <a:blip r:embed="rId9"/>
            <a:stretch/>
          </p:blipFill>
          <p:spPr>
            <a:xfrm>
              <a:off x="1296720" y="7204680"/>
              <a:ext cx="159840" cy="127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3" name="Text 59"/>
            <p:cNvSpPr/>
            <p:nvPr/>
          </p:nvSpPr>
          <p:spPr>
            <a:xfrm>
              <a:off x="1584720" y="7164360"/>
              <a:ext cx="12262680" cy="4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ts val="1599"/>
                </a:lnSpc>
                <a:tabLst>
                  <a:tab algn="l" pos="0"/>
                </a:tabLst>
              </a:pPr>
              <a:r>
                <a:rPr b="1" lang="en-US" sz="1000" strike="noStrike" u="none">
                  <a:solidFill>
                    <a:srgbClr val="000000"/>
                  </a:solidFill>
                  <a:effectLst/>
                  <a:uFillTx/>
                  <a:latin typeface="Tomorrow"/>
                  <a:ea typeface="Tomorrow"/>
                </a:rPr>
                <a:t>Formatos bloqueados por seguridad:</a:t>
              </a:r>
              <a:r>
                <a:rPr b="0" lang="en-US" sz="1000" strike="noStrike" u="none">
                  <a:solidFill>
                    <a:srgbClr val="000000"/>
                  </a:solidFill>
                  <a:effectLst/>
                  <a:uFillTx/>
                  <a:latin typeface="Tomorrow"/>
                  <a:ea typeface="Tomorrow"/>
                </a:rPr>
                <a:t> .exe, .bat, .sh, .js, .vbs, .ps1, .dll, .sys y archivos sin extensión. Estos pueden contener código malicioso o virus. Si necesitas enviar alguno, comprímelo en ZIP con contraseña.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585720" y="402840"/>
            <a:ext cx="64195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Límites y Capacidades de Almacenamiento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85720" y="1061640"/>
            <a:ext cx="134586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Para garantizar un rendimiento óptimo y proteger el sistema, hemos establecido límites específicos según el tipo de archivo y tu plan contratado.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585720" y="1460520"/>
            <a:ext cx="6655680" cy="1487880"/>
          </a:xfrm>
          <a:prstGeom prst="roundRect">
            <a:avLst>
              <a:gd name="adj" fmla="val 1476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732240" y="1607040"/>
            <a:ext cx="18302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Imágenes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732240" y="192384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Máximo: 5 MB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32240" y="224604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PNG, JPG, SVG, GIF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732240" y="256824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Recomendado para logos: 2 MB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7388280" y="1460520"/>
            <a:ext cx="6655680" cy="1487880"/>
          </a:xfrm>
          <a:prstGeom prst="roundRect">
            <a:avLst>
              <a:gd name="adj" fmla="val 1476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7534800" y="1607040"/>
            <a:ext cx="18302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Documentos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7534800" y="192384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Máximo: 10 MB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7534800" y="224604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PDF, Word, PowerPoint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7534800" y="256824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Comprimir si es mayor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585720" y="3095280"/>
            <a:ext cx="6655680" cy="1487880"/>
          </a:xfrm>
          <a:prstGeom prst="roundRect">
            <a:avLst>
              <a:gd name="adj" fmla="val 1476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732240" y="3241800"/>
            <a:ext cx="18302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Hojas de Cálculo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732240" y="355860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Máximo: 15 MB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732240" y="388080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Excel, CSV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732240" y="420300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Dividir archivos grandes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7"/>
          <p:cNvSpPr/>
          <p:nvPr/>
        </p:nvSpPr>
        <p:spPr>
          <a:xfrm>
            <a:off x="7388280" y="3095280"/>
            <a:ext cx="6655680" cy="1487880"/>
          </a:xfrm>
          <a:prstGeom prst="roundRect">
            <a:avLst>
              <a:gd name="adj" fmla="val 1476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7534800" y="3241800"/>
            <a:ext cx="18302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Archivos ZIP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7534800" y="355860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Máximo: 25 MB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7534800" y="388080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Comprimidos escaneados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7534800" y="4203000"/>
            <a:ext cx="6363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Contenido verificado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585720" y="4803480"/>
            <a:ext cx="44251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Planes de Almacenamiento Disponibles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585720" y="5297400"/>
            <a:ext cx="13458600" cy="2141280"/>
          </a:xfrm>
          <a:prstGeom prst="roundRect">
            <a:avLst>
              <a:gd name="adj" fmla="val 1026"/>
            </a:avLst>
          </a:prstGeom>
          <a:noFill/>
          <a:ln w="7620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4"/>
          <p:cNvSpPr/>
          <p:nvPr/>
        </p:nvSpPr>
        <p:spPr>
          <a:xfrm>
            <a:off x="593280" y="5305320"/>
            <a:ext cx="13443120" cy="4248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739800" y="540072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Plan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4104720" y="540072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Almacenamiento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7"/>
          <p:cNvSpPr/>
          <p:nvPr/>
        </p:nvSpPr>
        <p:spPr>
          <a:xfrm>
            <a:off x="7465320" y="540072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PDFs Aprox.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10826280" y="540072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Imágenes Aprox.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9"/>
          <p:cNvSpPr/>
          <p:nvPr/>
        </p:nvSpPr>
        <p:spPr>
          <a:xfrm>
            <a:off x="593280" y="5730480"/>
            <a:ext cx="13443120" cy="42480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0"/>
          <p:cNvSpPr/>
          <p:nvPr/>
        </p:nvSpPr>
        <p:spPr>
          <a:xfrm>
            <a:off x="739800" y="582588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Básico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1"/>
          <p:cNvSpPr/>
          <p:nvPr/>
        </p:nvSpPr>
        <p:spPr>
          <a:xfrm>
            <a:off x="4104720" y="582588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1 GB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2"/>
          <p:cNvSpPr/>
          <p:nvPr/>
        </p:nvSpPr>
        <p:spPr>
          <a:xfrm>
            <a:off x="7465320" y="582588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~200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3"/>
          <p:cNvSpPr/>
          <p:nvPr/>
        </p:nvSpPr>
        <p:spPr>
          <a:xfrm>
            <a:off x="10826280" y="582588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~500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4"/>
          <p:cNvSpPr/>
          <p:nvPr/>
        </p:nvSpPr>
        <p:spPr>
          <a:xfrm>
            <a:off x="593280" y="6155640"/>
            <a:ext cx="13443120" cy="4248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5"/>
          <p:cNvSpPr/>
          <p:nvPr/>
        </p:nvSpPr>
        <p:spPr>
          <a:xfrm>
            <a:off x="739800" y="625140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Profesional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6"/>
          <p:cNvSpPr/>
          <p:nvPr/>
        </p:nvSpPr>
        <p:spPr>
          <a:xfrm>
            <a:off x="4104720" y="625140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5 GB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7"/>
          <p:cNvSpPr/>
          <p:nvPr/>
        </p:nvSpPr>
        <p:spPr>
          <a:xfrm>
            <a:off x="7465320" y="625140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~1,000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8"/>
          <p:cNvSpPr/>
          <p:nvPr/>
        </p:nvSpPr>
        <p:spPr>
          <a:xfrm>
            <a:off x="10826280" y="625140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~2,500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9"/>
          <p:cNvSpPr/>
          <p:nvPr/>
        </p:nvSpPr>
        <p:spPr>
          <a:xfrm>
            <a:off x="593280" y="6581160"/>
            <a:ext cx="13443120" cy="42480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0"/>
          <p:cNvSpPr/>
          <p:nvPr/>
        </p:nvSpPr>
        <p:spPr>
          <a:xfrm>
            <a:off x="739800" y="667656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Empresarial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1"/>
          <p:cNvSpPr/>
          <p:nvPr/>
        </p:nvSpPr>
        <p:spPr>
          <a:xfrm>
            <a:off x="4104720" y="667656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20 GB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2"/>
          <p:cNvSpPr/>
          <p:nvPr/>
        </p:nvSpPr>
        <p:spPr>
          <a:xfrm>
            <a:off x="7465320" y="667656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~4,000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3"/>
          <p:cNvSpPr/>
          <p:nvPr/>
        </p:nvSpPr>
        <p:spPr>
          <a:xfrm>
            <a:off x="10826280" y="667656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~10,000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4"/>
          <p:cNvSpPr/>
          <p:nvPr/>
        </p:nvSpPr>
        <p:spPr>
          <a:xfrm>
            <a:off x="593280" y="7006320"/>
            <a:ext cx="13443120" cy="4248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5"/>
          <p:cNvSpPr/>
          <p:nvPr/>
        </p:nvSpPr>
        <p:spPr>
          <a:xfrm>
            <a:off x="739800" y="710172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Ilimitado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6"/>
          <p:cNvSpPr/>
          <p:nvPr/>
        </p:nvSpPr>
        <p:spPr>
          <a:xfrm>
            <a:off x="4104720" y="710172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Sin límite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7"/>
          <p:cNvSpPr/>
          <p:nvPr/>
        </p:nvSpPr>
        <p:spPr>
          <a:xfrm>
            <a:off x="7465320" y="7101720"/>
            <a:ext cx="30600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Consultar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8"/>
          <p:cNvSpPr/>
          <p:nvPr/>
        </p:nvSpPr>
        <p:spPr>
          <a:xfrm>
            <a:off x="10826280" y="7101720"/>
            <a:ext cx="306396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Consultar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9"/>
          <p:cNvSpPr/>
          <p:nvPr/>
        </p:nvSpPr>
        <p:spPr>
          <a:xfrm>
            <a:off x="585720" y="7603920"/>
            <a:ext cx="134586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Verifica tu uso actual en </a:t>
            </a:r>
            <a:r>
              <a:rPr b="1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Configuración → Uso de Almacenamiento</a:t>
            </a:r>
            <a:r>
              <a:rPr b="0" lang="en-US" sz="11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, donde encontrarás una barra de progreso con tu consumo en tiempo real.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1257336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396720" y="272880"/>
            <a:ext cx="449352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Cómo Subir Archivos: Dos Métodos Sencillos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396720" y="768960"/>
            <a:ext cx="20368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Método 1: Arrastrar y Soltar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396720" y="1054080"/>
            <a:ext cx="6797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La forma más rápida y moderna de cargar documentos: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preencoded.png"/>
          <p:cNvPicPr/>
          <p:nvPr/>
        </p:nvPicPr>
        <p:blipFill>
          <a:blip r:embed="rId1"/>
          <a:stretch/>
        </p:blipFill>
        <p:spPr>
          <a:xfrm>
            <a:off x="396720" y="1324080"/>
            <a:ext cx="495720" cy="61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3"/>
          <p:cNvSpPr/>
          <p:nvPr/>
        </p:nvSpPr>
        <p:spPr>
          <a:xfrm>
            <a:off x="992160" y="1423440"/>
            <a:ext cx="12402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Navega al módulo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992160" y="1677600"/>
            <a:ext cx="6201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Ejemplo: Empleados → Documentos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1" descr="preencoded.png"/>
          <p:cNvPicPr/>
          <p:nvPr/>
        </p:nvPicPr>
        <p:blipFill>
          <a:blip r:embed="rId2"/>
          <a:stretch/>
        </p:blipFill>
        <p:spPr>
          <a:xfrm>
            <a:off x="396720" y="1935360"/>
            <a:ext cx="495720" cy="61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5"/>
          <p:cNvSpPr/>
          <p:nvPr/>
        </p:nvSpPr>
        <p:spPr>
          <a:xfrm>
            <a:off x="992160" y="2034720"/>
            <a:ext cx="15318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Localiza el área de carga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992160" y="2288880"/>
            <a:ext cx="6201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Icono de nube o área punteada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2" descr="preencoded.png"/>
          <p:cNvPicPr/>
          <p:nvPr/>
        </p:nvPicPr>
        <p:blipFill>
          <a:blip r:embed="rId3"/>
          <a:stretch/>
        </p:blipFill>
        <p:spPr>
          <a:xfrm>
            <a:off x="396720" y="2546640"/>
            <a:ext cx="495720" cy="61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7"/>
          <p:cNvSpPr/>
          <p:nvPr/>
        </p:nvSpPr>
        <p:spPr>
          <a:xfrm>
            <a:off x="992160" y="2645640"/>
            <a:ext cx="12402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Arrastra y suelta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992160" y="2899800"/>
            <a:ext cx="6201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Desde tu carpeta al área indicada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3" descr="preencoded.png"/>
          <p:cNvPicPr/>
          <p:nvPr/>
        </p:nvPicPr>
        <p:blipFill>
          <a:blip r:embed="rId4"/>
          <a:stretch/>
        </p:blipFill>
        <p:spPr>
          <a:xfrm>
            <a:off x="396720" y="3157560"/>
            <a:ext cx="495720" cy="61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9"/>
          <p:cNvSpPr/>
          <p:nvPr/>
        </p:nvSpPr>
        <p:spPr>
          <a:xfrm>
            <a:off x="992160" y="3256920"/>
            <a:ext cx="12402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Confirma la carga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992160" y="3511080"/>
            <a:ext cx="6201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Mensaje verde de éxito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7443720" y="768960"/>
            <a:ext cx="2107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Método 2: Selección Manual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7443720" y="1054080"/>
            <a:ext cx="6797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Si prefieres el método tradicional: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3"/>
          <p:cNvSpPr/>
          <p:nvPr/>
        </p:nvSpPr>
        <p:spPr>
          <a:xfrm>
            <a:off x="7443720" y="1302120"/>
            <a:ext cx="6797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Haz clic en </a:t>
            </a:r>
            <a:r>
              <a:rPr b="1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"Seleccionar Archivo"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7443720" y="1495080"/>
            <a:ext cx="6797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250"/>
              </a:lnSpc>
              <a:buClr>
                <a:srgbClr val="61615c"/>
              </a:buClr>
              <a:buFont typeface="Calibri Light"/>
              <a:buAutoNum type="arabicPeriod" startAt="2"/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Explora tu computadora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7443720" y="1688400"/>
            <a:ext cx="6797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250"/>
              </a:lnSpc>
              <a:buClr>
                <a:srgbClr val="61615c"/>
              </a:buClr>
              <a:buFont typeface="Calibri Light"/>
              <a:buAutoNum type="arabicPeriod" startAt="3"/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Selecciona el archivo deseado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7443720" y="1881720"/>
            <a:ext cx="6797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Confirma con </a:t>
            </a:r>
            <a:r>
              <a:rPr b="1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"Abrir"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7443720" y="2075040"/>
            <a:ext cx="6797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Presiona </a:t>
            </a:r>
            <a:r>
              <a:rPr b="1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"Subir"</a:t>
            </a: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si es necesario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4" descr="preencoded.png"/>
          <p:cNvPicPr/>
          <p:nvPr/>
        </p:nvPicPr>
        <p:blipFill>
          <a:blip r:embed="rId5"/>
          <a:stretch/>
        </p:blipFill>
        <p:spPr>
          <a:xfrm>
            <a:off x="7443720" y="2514600"/>
            <a:ext cx="5038200" cy="503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18"/>
          <p:cNvSpPr/>
          <p:nvPr/>
        </p:nvSpPr>
        <p:spPr>
          <a:xfrm>
            <a:off x="396720" y="8956440"/>
            <a:ext cx="30556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Proceso de Seguridad en Segundo Plano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396720" y="9291240"/>
            <a:ext cx="986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0"/>
          <p:cNvSpPr/>
          <p:nvPr/>
        </p:nvSpPr>
        <p:spPr>
          <a:xfrm>
            <a:off x="396720" y="9444600"/>
            <a:ext cx="4545720" cy="1476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880" bIns="-29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1"/>
          <p:cNvSpPr/>
          <p:nvPr/>
        </p:nvSpPr>
        <p:spPr>
          <a:xfrm>
            <a:off x="396720" y="9524520"/>
            <a:ext cx="12402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Recepción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2"/>
          <p:cNvSpPr/>
          <p:nvPr/>
        </p:nvSpPr>
        <p:spPr>
          <a:xfrm>
            <a:off x="396720" y="9739080"/>
            <a:ext cx="4545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El archivo llega al servidor seguro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3"/>
          <p:cNvSpPr/>
          <p:nvPr/>
        </p:nvSpPr>
        <p:spPr>
          <a:xfrm>
            <a:off x="5042160" y="9291240"/>
            <a:ext cx="986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02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4"/>
          <p:cNvSpPr/>
          <p:nvPr/>
        </p:nvSpPr>
        <p:spPr>
          <a:xfrm>
            <a:off x="5042160" y="9444600"/>
            <a:ext cx="4545720" cy="1476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880" bIns="-29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5"/>
          <p:cNvSpPr/>
          <p:nvPr/>
        </p:nvSpPr>
        <p:spPr>
          <a:xfrm>
            <a:off x="5042160" y="9524520"/>
            <a:ext cx="12402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Validación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6"/>
          <p:cNvSpPr/>
          <p:nvPr/>
        </p:nvSpPr>
        <p:spPr>
          <a:xfrm>
            <a:off x="5042160" y="9739080"/>
            <a:ext cx="4545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Formato, tamaño y nombre verificados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7"/>
          <p:cNvSpPr/>
          <p:nvPr/>
        </p:nvSpPr>
        <p:spPr>
          <a:xfrm>
            <a:off x="9687240" y="9291240"/>
            <a:ext cx="986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03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8"/>
          <p:cNvSpPr/>
          <p:nvPr/>
        </p:nvSpPr>
        <p:spPr>
          <a:xfrm>
            <a:off x="9687240" y="9444600"/>
            <a:ext cx="4545720" cy="1476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880" bIns="-29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9"/>
          <p:cNvSpPr/>
          <p:nvPr/>
        </p:nvSpPr>
        <p:spPr>
          <a:xfrm>
            <a:off x="9687240" y="9524520"/>
            <a:ext cx="12402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Escaneo Antivirus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0"/>
          <p:cNvSpPr/>
          <p:nvPr/>
        </p:nvSpPr>
        <p:spPr>
          <a:xfrm>
            <a:off x="9687240" y="9739080"/>
            <a:ext cx="4545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ClamAV busca amenazas conocidas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1"/>
          <p:cNvSpPr/>
          <p:nvPr/>
        </p:nvSpPr>
        <p:spPr>
          <a:xfrm>
            <a:off x="396720" y="10071360"/>
            <a:ext cx="986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04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2"/>
          <p:cNvSpPr/>
          <p:nvPr/>
        </p:nvSpPr>
        <p:spPr>
          <a:xfrm>
            <a:off x="396720" y="10224720"/>
            <a:ext cx="6868440" cy="1476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880" bIns="-29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3"/>
          <p:cNvSpPr/>
          <p:nvPr/>
        </p:nvSpPr>
        <p:spPr>
          <a:xfrm>
            <a:off x="396720" y="10304640"/>
            <a:ext cx="156852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Almacenamiento Seguro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4"/>
          <p:cNvSpPr/>
          <p:nvPr/>
        </p:nvSpPr>
        <p:spPr>
          <a:xfrm>
            <a:off x="396720" y="10519200"/>
            <a:ext cx="68684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Guardado en carpeta empresarial aislada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5"/>
          <p:cNvSpPr/>
          <p:nvPr/>
        </p:nvSpPr>
        <p:spPr>
          <a:xfrm>
            <a:off x="7364880" y="10071360"/>
            <a:ext cx="986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 Light"/>
                <a:ea typeface="Tomorrow Light"/>
              </a:rPr>
              <a:t>05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6"/>
          <p:cNvSpPr/>
          <p:nvPr/>
        </p:nvSpPr>
        <p:spPr>
          <a:xfrm>
            <a:off x="7364880" y="10224720"/>
            <a:ext cx="6868440" cy="1476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880" bIns="-29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7"/>
          <p:cNvSpPr/>
          <p:nvPr/>
        </p:nvSpPr>
        <p:spPr>
          <a:xfrm>
            <a:off x="7364880" y="10304640"/>
            <a:ext cx="12402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Confirmación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8"/>
          <p:cNvSpPr/>
          <p:nvPr/>
        </p:nvSpPr>
        <p:spPr>
          <a:xfrm>
            <a:off x="7364880" y="10519200"/>
            <a:ext cx="68684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Notificación de éxito al usuario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9"/>
          <p:cNvSpPr/>
          <p:nvPr/>
        </p:nvSpPr>
        <p:spPr>
          <a:xfrm>
            <a:off x="396720" y="10863720"/>
            <a:ext cx="138362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Tiempo estimado: 2-10 segundos según tamaño del archivo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6"/>
          <a:stretch/>
        </p:blipFill>
        <p:spPr>
          <a:xfrm>
            <a:off x="1257336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793800" y="658080"/>
            <a:ext cx="589428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9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Cómo Acceder a tus Archivos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793800" y="1551240"/>
            <a:ext cx="13042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Tus documentos están organizados estratégicamente según el módulo donde fueron cargados, facilitando su localización y gestión.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793800" y="2290320"/>
            <a:ext cx="2685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Archivos de Empresa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793800" y="27194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Ruta:</a:t>
            </a: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Configuración → Gestión de Empresas → Branding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793800" y="34736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Logos, certificados, documentación legal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4116600" y="2290320"/>
            <a:ext cx="29642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Archivos de Empleados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4116600" y="27194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Ruta:</a:t>
            </a: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RRHH → Empleados → [Nombre] → Documentos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4116600" y="34736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Contratos, certificados personales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7439040" y="2290320"/>
            <a:ext cx="25426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Archivos de Nómina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7439040" y="27194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Ruta:</a:t>
            </a: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Nómina → Reportes → Documentos Generados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7439040" y="34736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Desprendibles, reportes de seguridad social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10761840" y="2290320"/>
            <a:ext cx="25912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Archivos de Sistema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10761840" y="27194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Ruta:</a:t>
            </a: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Configuración → Documentos del Sistema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10761840" y="3473640"/>
            <a:ext cx="307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Manuales, guías, plantillas corporativas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793800" y="4530240"/>
            <a:ext cx="325872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Descargar un Archivo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793800" y="510084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Navega hasta el archivo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793800" y="548784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 startAt="2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Clic en icono de descarga o nombre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793800" y="587484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 startAt="3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Sistema genera URL temporal segura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793800" y="626148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 startAt="4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Navegador descarga automáticamente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793800" y="664848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 startAt="5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Abre desde tu carpeta de descargas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7565040" y="4530240"/>
            <a:ext cx="394020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Vista Previa sin Descargar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7565040" y="510084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Clic en icono de vista previa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7565040" y="548784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 startAt="2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Ventana emergente con contenido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3"/>
          <p:cNvSpPr/>
          <p:nvPr/>
        </p:nvSpPr>
        <p:spPr>
          <a:xfrm>
            <a:off x="7565040" y="587484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 startAt="3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Zoom, rotación e impresión disponibles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7565040" y="6261480"/>
            <a:ext cx="62791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500"/>
              </a:lnSpc>
              <a:buClr>
                <a:srgbClr val="61615c"/>
              </a:buClr>
              <a:buFont typeface="Calibri Light"/>
              <a:buAutoNum type="arabicPeriod" startAt="4"/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Cierra cuando termines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7565040" y="6757920"/>
            <a:ext cx="62791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Beneficio:</a:t>
            </a: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No saturas tu carpeta de descargas con archivos de consulta rápida.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1257336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438840" y="301680"/>
            <a:ext cx="773640" cy="205560"/>
          </a:xfrm>
          <a:prstGeom prst="roundRect">
            <a:avLst>
              <a:gd name="adj" fmla="val 6387"/>
            </a:avLst>
          </a:prstGeom>
          <a:solidFill>
            <a:srgbClr val="e6e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04360" y="360720"/>
            <a:ext cx="87480" cy="8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1"/>
          <p:cNvSpPr/>
          <p:nvPr/>
        </p:nvSpPr>
        <p:spPr>
          <a:xfrm>
            <a:off x="636120" y="334440"/>
            <a:ext cx="5104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SEGURIDAD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438840" y="551520"/>
            <a:ext cx="470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Por Qué los Enlaces Expiran: Tu Protección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438840" y="990360"/>
            <a:ext cx="1375272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Cuando accedes a un archivo, el sistema genera un </a:t>
            </a:r>
            <a:r>
              <a:rPr b="1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enlace de acceso único y temporal</a:t>
            </a: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que caduca en 1 hora. Esta no es una limitación, es una protección activa de tu información empresarial.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438840" y="1330200"/>
            <a:ext cx="26114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Anatomía de una URL Temporal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"/>
          <p:cNvSpPr/>
          <p:nvPr/>
        </p:nvSpPr>
        <p:spPr>
          <a:xfrm>
            <a:off x="438840" y="1700280"/>
            <a:ext cx="13752720" cy="690480"/>
          </a:xfrm>
          <a:prstGeom prst="roundRect">
            <a:avLst>
              <a:gd name="adj" fmla="val 2382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6"/>
          <p:cNvSpPr/>
          <p:nvPr/>
        </p:nvSpPr>
        <p:spPr>
          <a:xfrm>
            <a:off x="433440" y="1700280"/>
            <a:ext cx="13763520" cy="690480"/>
          </a:xfrm>
          <a:prstGeom prst="roundRect">
            <a:avLst>
              <a:gd name="adj" fmla="val 2382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542880" y="1782720"/>
            <a:ext cx="1354428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https://plataforma.com/private/assets/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companies/12345/contracts/contrato_abc.pdf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?token=xyz789&amp;expires=1640000000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8"/>
          <p:cNvSpPr/>
          <p:nvPr/>
        </p:nvSpPr>
        <p:spPr>
          <a:xfrm>
            <a:off x="438840" y="2514240"/>
            <a:ext cx="6821280" cy="662040"/>
          </a:xfrm>
          <a:prstGeom prst="roundRect">
            <a:avLst>
              <a:gd name="adj" fmla="val 2484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9"/>
          <p:cNvSpPr/>
          <p:nvPr/>
        </p:nvSpPr>
        <p:spPr>
          <a:xfrm>
            <a:off x="563760" y="2639160"/>
            <a:ext cx="1370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companies/12345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0"/>
          <p:cNvSpPr/>
          <p:nvPr/>
        </p:nvSpPr>
        <p:spPr>
          <a:xfrm>
            <a:off x="563760" y="2876400"/>
            <a:ext cx="65714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Tu empresa en aislamiento total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1"/>
          <p:cNvSpPr/>
          <p:nvPr/>
        </p:nvSpPr>
        <p:spPr>
          <a:xfrm>
            <a:off x="7369920" y="2514240"/>
            <a:ext cx="6821280" cy="662040"/>
          </a:xfrm>
          <a:prstGeom prst="roundRect">
            <a:avLst>
              <a:gd name="adj" fmla="val 2484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7494840" y="2639160"/>
            <a:ext cx="1370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contrato_abc.pdf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3"/>
          <p:cNvSpPr/>
          <p:nvPr/>
        </p:nvSpPr>
        <p:spPr>
          <a:xfrm>
            <a:off x="7494840" y="2876400"/>
            <a:ext cx="65714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Nombre único del archivo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438840" y="3286440"/>
            <a:ext cx="6821280" cy="662040"/>
          </a:xfrm>
          <a:prstGeom prst="roundRect">
            <a:avLst>
              <a:gd name="adj" fmla="val 2484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5"/>
          <p:cNvSpPr/>
          <p:nvPr/>
        </p:nvSpPr>
        <p:spPr>
          <a:xfrm>
            <a:off x="563760" y="3411360"/>
            <a:ext cx="1370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token=xyz789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563760" y="3648600"/>
            <a:ext cx="65714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Llave de acceso temporal única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7"/>
          <p:cNvSpPr/>
          <p:nvPr/>
        </p:nvSpPr>
        <p:spPr>
          <a:xfrm>
            <a:off x="7369920" y="3286440"/>
            <a:ext cx="6821280" cy="662040"/>
          </a:xfrm>
          <a:prstGeom prst="roundRect">
            <a:avLst>
              <a:gd name="adj" fmla="val 2484"/>
            </a:avLst>
          </a:prstGeom>
          <a:solidFill>
            <a:srgbClr val="fcfcfc"/>
          </a:solidFill>
          <a:ln w="1524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8"/>
          <p:cNvSpPr/>
          <p:nvPr/>
        </p:nvSpPr>
        <p:spPr>
          <a:xfrm>
            <a:off x="7494840" y="3411360"/>
            <a:ext cx="15109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expires=1640000000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7494840" y="3648600"/>
            <a:ext cx="65714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Fecha de expiración (1 hora)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0"/>
          <p:cNvSpPr/>
          <p:nvPr/>
        </p:nvSpPr>
        <p:spPr>
          <a:xfrm>
            <a:off x="438840" y="4181760"/>
            <a:ext cx="23763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Tomorrow Semi Bold"/>
                <a:ea typeface="Tomorrow Semi Bold"/>
              </a:rPr>
              <a:t>❌</a:t>
            </a:r>
            <a:r>
              <a:rPr b="0" lang="en-US" sz="12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 Sin Expiración (Inseguro)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1"/>
          <p:cNvSpPr/>
          <p:nvPr/>
        </p:nvSpPr>
        <p:spPr>
          <a:xfrm>
            <a:off x="3802320" y="4525920"/>
            <a:ext cx="14760" cy="270324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2"/>
          <p:cNvSpPr/>
          <p:nvPr/>
        </p:nvSpPr>
        <p:spPr>
          <a:xfrm>
            <a:off x="3372840" y="464148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3"/>
          <p:cNvSpPr/>
          <p:nvPr/>
        </p:nvSpPr>
        <p:spPr>
          <a:xfrm>
            <a:off x="3686760" y="452592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3727800" y="454644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1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438840" y="4561560"/>
            <a:ext cx="28224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Descargas un contrato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6"/>
          <p:cNvSpPr/>
          <p:nvPr/>
        </p:nvSpPr>
        <p:spPr>
          <a:xfrm>
            <a:off x="3918240" y="529956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7"/>
          <p:cNvSpPr/>
          <p:nvPr/>
        </p:nvSpPr>
        <p:spPr>
          <a:xfrm>
            <a:off x="3686760" y="518400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3727800" y="520452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2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9"/>
          <p:cNvSpPr/>
          <p:nvPr/>
        </p:nvSpPr>
        <p:spPr>
          <a:xfrm>
            <a:off x="4358520" y="5219640"/>
            <a:ext cx="282276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Copias el enlace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0"/>
          <p:cNvSpPr/>
          <p:nvPr/>
        </p:nvSpPr>
        <p:spPr>
          <a:xfrm>
            <a:off x="3372840" y="586584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1"/>
          <p:cNvSpPr/>
          <p:nvPr/>
        </p:nvSpPr>
        <p:spPr>
          <a:xfrm>
            <a:off x="3686760" y="575028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2"/>
          <p:cNvSpPr/>
          <p:nvPr/>
        </p:nvSpPr>
        <p:spPr>
          <a:xfrm>
            <a:off x="3727800" y="577080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3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3"/>
          <p:cNvSpPr/>
          <p:nvPr/>
        </p:nvSpPr>
        <p:spPr>
          <a:xfrm>
            <a:off x="438840" y="5785560"/>
            <a:ext cx="28224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highlight>
                  <a:srgbClr val="ff0000"/>
                </a:highlight>
                <a:uFillTx/>
                <a:latin typeface="Tomorrow"/>
                <a:ea typeface="Tomorrow"/>
              </a:rPr>
              <a:t>1 mes después, sigue funcionando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4"/>
          <p:cNvSpPr/>
          <p:nvPr/>
        </p:nvSpPr>
        <p:spPr>
          <a:xfrm>
            <a:off x="3918240" y="643212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5"/>
          <p:cNvSpPr/>
          <p:nvPr/>
        </p:nvSpPr>
        <p:spPr>
          <a:xfrm>
            <a:off x="3686760" y="631656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6"/>
          <p:cNvSpPr/>
          <p:nvPr/>
        </p:nvSpPr>
        <p:spPr>
          <a:xfrm>
            <a:off x="3727800" y="633708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4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7"/>
          <p:cNvSpPr/>
          <p:nvPr/>
        </p:nvSpPr>
        <p:spPr>
          <a:xfrm>
            <a:off x="4358520" y="6351840"/>
            <a:ext cx="282276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RIESGO:</a:t>
            </a: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Cualquiera con el enlace accede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8"/>
          <p:cNvSpPr/>
          <p:nvPr/>
        </p:nvSpPr>
        <p:spPr>
          <a:xfrm>
            <a:off x="7456680" y="4181760"/>
            <a:ext cx="22698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effectLst/>
                <a:uFillTx/>
                <a:latin typeface="Tomorrow Semi Bold"/>
                <a:ea typeface="Tomorrow Semi Bold"/>
              </a:rPr>
              <a:t>✅</a:t>
            </a:r>
            <a:r>
              <a:rPr b="0" lang="en-US" sz="12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 Con Expiración (Seguro)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9"/>
          <p:cNvSpPr/>
          <p:nvPr/>
        </p:nvSpPr>
        <p:spPr>
          <a:xfrm>
            <a:off x="10820160" y="4525920"/>
            <a:ext cx="14760" cy="270324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0"/>
          <p:cNvSpPr/>
          <p:nvPr/>
        </p:nvSpPr>
        <p:spPr>
          <a:xfrm>
            <a:off x="10390680" y="464148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1"/>
          <p:cNvSpPr/>
          <p:nvPr/>
        </p:nvSpPr>
        <p:spPr>
          <a:xfrm>
            <a:off x="10704600" y="452592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2"/>
          <p:cNvSpPr/>
          <p:nvPr/>
        </p:nvSpPr>
        <p:spPr>
          <a:xfrm>
            <a:off x="10745640" y="454644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1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3"/>
          <p:cNvSpPr/>
          <p:nvPr/>
        </p:nvSpPr>
        <p:spPr>
          <a:xfrm>
            <a:off x="7456680" y="4561560"/>
            <a:ext cx="28224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Descargas un contrato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4"/>
          <p:cNvSpPr/>
          <p:nvPr/>
        </p:nvSpPr>
        <p:spPr>
          <a:xfrm>
            <a:off x="10936080" y="529956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5"/>
          <p:cNvSpPr/>
          <p:nvPr/>
        </p:nvSpPr>
        <p:spPr>
          <a:xfrm>
            <a:off x="10704600" y="518400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6"/>
          <p:cNvSpPr/>
          <p:nvPr/>
        </p:nvSpPr>
        <p:spPr>
          <a:xfrm>
            <a:off x="10745640" y="520452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2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7"/>
          <p:cNvSpPr/>
          <p:nvPr/>
        </p:nvSpPr>
        <p:spPr>
          <a:xfrm>
            <a:off x="11376360" y="5219640"/>
            <a:ext cx="282276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El enlace funciona 1 hora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8"/>
          <p:cNvSpPr/>
          <p:nvPr/>
        </p:nvSpPr>
        <p:spPr>
          <a:xfrm>
            <a:off x="10390680" y="586584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9"/>
          <p:cNvSpPr/>
          <p:nvPr/>
        </p:nvSpPr>
        <p:spPr>
          <a:xfrm>
            <a:off x="10704600" y="575028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0"/>
          <p:cNvSpPr/>
          <p:nvPr/>
        </p:nvSpPr>
        <p:spPr>
          <a:xfrm>
            <a:off x="10745640" y="577080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3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1"/>
          <p:cNvSpPr/>
          <p:nvPr/>
        </p:nvSpPr>
        <p:spPr>
          <a:xfrm>
            <a:off x="7456680" y="5785560"/>
            <a:ext cx="28224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349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highlight>
                  <a:srgbClr val="00ff00"/>
                </a:highlight>
                <a:uFillTx/>
                <a:latin typeface="Tomorrow"/>
                <a:ea typeface="Tomorrow"/>
              </a:rPr>
              <a:t>Después de 1 hora, es inválido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52"/>
          <p:cNvSpPr/>
          <p:nvPr/>
        </p:nvSpPr>
        <p:spPr>
          <a:xfrm>
            <a:off x="10936080" y="6432120"/>
            <a:ext cx="328680" cy="14760"/>
          </a:xfrm>
          <a:prstGeom prst="roundRect">
            <a:avLst>
              <a:gd name="adj" fmla="val 107971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3"/>
          <p:cNvSpPr/>
          <p:nvPr/>
        </p:nvSpPr>
        <p:spPr>
          <a:xfrm>
            <a:off x="10704600" y="6316560"/>
            <a:ext cx="246600" cy="246600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4"/>
          <p:cNvSpPr/>
          <p:nvPr/>
        </p:nvSpPr>
        <p:spPr>
          <a:xfrm>
            <a:off x="10745640" y="6337080"/>
            <a:ext cx="164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25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4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5"/>
          <p:cNvSpPr/>
          <p:nvPr/>
        </p:nvSpPr>
        <p:spPr>
          <a:xfrm>
            <a:off x="11376360" y="6351840"/>
            <a:ext cx="282276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PROTECCIÓN:</a:t>
            </a: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Acceso bloqueado automáticamente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3"/>
          <a:stretch/>
        </p:blipFill>
        <p:spPr>
          <a:xfrm>
            <a:off x="1257372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06" name=""/>
          <p:cNvGrpSpPr/>
          <p:nvPr/>
        </p:nvGrpSpPr>
        <p:grpSpPr>
          <a:xfrm>
            <a:off x="438840" y="7476840"/>
            <a:ext cx="13752720" cy="465480"/>
            <a:chOff x="438840" y="7476840"/>
            <a:chExt cx="13752720" cy="465480"/>
          </a:xfrm>
        </p:grpSpPr>
        <p:sp>
          <p:nvSpPr>
            <p:cNvPr id="307" name="Shape 56"/>
            <p:cNvSpPr/>
            <p:nvPr/>
          </p:nvSpPr>
          <p:spPr>
            <a:xfrm>
              <a:off x="438840" y="7476840"/>
              <a:ext cx="13752720" cy="465480"/>
            </a:xfrm>
            <a:prstGeom prst="roundRect">
              <a:avLst>
                <a:gd name="adj" fmla="val 3532"/>
              </a:avLst>
            </a:prstGeom>
            <a:solidFill>
              <a:srgbClr val="dada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08" name="Image 1" descr="preencoded.png"/>
            <p:cNvPicPr/>
            <p:nvPr/>
          </p:nvPicPr>
          <p:blipFill>
            <a:blip r:embed="rId4"/>
            <a:stretch/>
          </p:blipFill>
          <p:spPr>
            <a:xfrm>
              <a:off x="548280" y="7647480"/>
              <a:ext cx="13680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9" name="Text 57"/>
            <p:cNvSpPr/>
            <p:nvPr/>
          </p:nvSpPr>
          <p:spPr>
            <a:xfrm>
              <a:off x="795240" y="7614000"/>
              <a:ext cx="13286520" cy="17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349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000000"/>
                  </a:solidFill>
                  <a:effectLst/>
                  <a:uFillTx/>
                  <a:latin typeface="Tomorrow"/>
                  <a:ea typeface="Tomorrow"/>
                </a:rPr>
                <a:t>Si intentas acceder a un archivo expirado, simplemente regresa a la ubicación original y genera un nuevo enlace. No es un error, es tu protección activa.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449280" y="308880"/>
            <a:ext cx="473868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Solución de Problemas: Errores Comunes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49280" y="814320"/>
            <a:ext cx="1373148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Resuelve los problemas más frecuentes con estas soluciones prácticas y efectivas.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"/>
          <p:cNvSpPr/>
          <p:nvPr/>
        </p:nvSpPr>
        <p:spPr>
          <a:xfrm>
            <a:off x="449280" y="1119960"/>
            <a:ext cx="6809400" cy="2246040"/>
          </a:xfrm>
          <a:prstGeom prst="roundRect">
            <a:avLst>
              <a:gd name="adj" fmla="val 750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561600" y="1232280"/>
            <a:ext cx="336600" cy="336600"/>
          </a:xfrm>
          <a:prstGeom prst="roundRect">
            <a:avLst>
              <a:gd name="adj" fmla="val 27135085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4120" y="132480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4"/>
          <p:cNvSpPr/>
          <p:nvPr/>
        </p:nvSpPr>
        <p:spPr>
          <a:xfrm>
            <a:off x="561600" y="1681560"/>
            <a:ext cx="198792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"No puedo subir mi archivo"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561600" y="192420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Causas comunes: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561600" y="217116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Botón deshabilitado: Selecciona archivo primero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561600" y="239004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Formato no permitido: Convierte a PDF o ZIP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8"/>
          <p:cNvSpPr/>
          <p:nvPr/>
        </p:nvSpPr>
        <p:spPr>
          <a:xfrm>
            <a:off x="561600" y="260892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Carga se detiene: Verifica tu conexión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561600" y="282780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Sin permisos: Contacta al administrador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7371360" y="1119960"/>
            <a:ext cx="6809400" cy="2246040"/>
          </a:xfrm>
          <a:prstGeom prst="roundRect">
            <a:avLst>
              <a:gd name="adj" fmla="val 750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1"/>
          <p:cNvSpPr/>
          <p:nvPr/>
        </p:nvSpPr>
        <p:spPr>
          <a:xfrm>
            <a:off x="7483680" y="1232280"/>
            <a:ext cx="336600" cy="336600"/>
          </a:xfrm>
          <a:prstGeom prst="roundRect">
            <a:avLst>
              <a:gd name="adj" fmla="val 27135085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576200" y="132480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2"/>
          <p:cNvSpPr/>
          <p:nvPr/>
        </p:nvSpPr>
        <p:spPr>
          <a:xfrm>
            <a:off x="7483680" y="1681560"/>
            <a:ext cx="24840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"Archivo rechazado por seguridad"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7483680" y="192420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El antivirus detectó amenaza: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"/>
          <p:cNvSpPr/>
          <p:nvPr/>
        </p:nvSpPr>
        <p:spPr>
          <a:xfrm>
            <a:off x="7483680" y="217116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Verifica el origen del archivo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7483680" y="239004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 startAt="2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Escanea localmente con tu antivirus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7483680" y="260892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 startAt="3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Si es Excel, deshabilita macros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7483680" y="282780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 startAt="4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Contacta soporte con detalles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7483680" y="307476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highlight>
                  <a:srgbClr val="ff0000"/>
                </a:highlight>
                <a:uFillTx/>
                <a:latin typeface="Tomorrow"/>
                <a:ea typeface="Tomorrow"/>
              </a:rPr>
              <a:t>Nunca ignores este error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9"/>
          <p:cNvSpPr/>
          <p:nvPr/>
        </p:nvSpPr>
        <p:spPr>
          <a:xfrm>
            <a:off x="449280" y="3478680"/>
            <a:ext cx="6809400" cy="2246040"/>
          </a:xfrm>
          <a:prstGeom prst="roundRect">
            <a:avLst>
              <a:gd name="adj" fmla="val 750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0"/>
          <p:cNvSpPr/>
          <p:nvPr/>
        </p:nvSpPr>
        <p:spPr>
          <a:xfrm>
            <a:off x="561600" y="3591000"/>
            <a:ext cx="336600" cy="336600"/>
          </a:xfrm>
          <a:prstGeom prst="roundRect">
            <a:avLst>
              <a:gd name="adj" fmla="val 27135085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54120" y="368352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21"/>
          <p:cNvSpPr/>
          <p:nvPr/>
        </p:nvSpPr>
        <p:spPr>
          <a:xfrm>
            <a:off x="561600" y="4040280"/>
            <a:ext cx="18698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"No encuentro mi archivo"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2"/>
          <p:cNvSpPr/>
          <p:nvPr/>
        </p:nvSpPr>
        <p:spPr>
          <a:xfrm>
            <a:off x="561600" y="428292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Pasos para localizar: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3"/>
          <p:cNvSpPr/>
          <p:nvPr/>
        </p:nvSpPr>
        <p:spPr>
          <a:xfrm>
            <a:off x="561600" y="452988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Verifica el módulo correcto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4"/>
          <p:cNvSpPr/>
          <p:nvPr/>
        </p:nvSpPr>
        <p:spPr>
          <a:xfrm>
            <a:off x="561600" y="4748760"/>
            <a:ext cx="658476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 startAt="2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Usa barra de búsqueda global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8"/>
          <p:cNvSpPr/>
          <p:nvPr/>
        </p:nvSpPr>
        <p:spPr>
          <a:xfrm>
            <a:off x="7371360" y="3478680"/>
            <a:ext cx="6809400" cy="2246040"/>
          </a:xfrm>
          <a:prstGeom prst="roundRect">
            <a:avLst>
              <a:gd name="adj" fmla="val 750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9"/>
          <p:cNvSpPr/>
          <p:nvPr/>
        </p:nvSpPr>
        <p:spPr>
          <a:xfrm>
            <a:off x="7483680" y="3591000"/>
            <a:ext cx="336600" cy="336600"/>
          </a:xfrm>
          <a:prstGeom prst="roundRect">
            <a:avLst>
              <a:gd name="adj" fmla="val 27135085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576200" y="368352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30"/>
          <p:cNvSpPr/>
          <p:nvPr/>
        </p:nvSpPr>
        <p:spPr>
          <a:xfrm>
            <a:off x="7483680" y="4040280"/>
            <a:ext cx="164916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"Me quedé sin espacio"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1"/>
          <p:cNvSpPr/>
          <p:nvPr/>
        </p:nvSpPr>
        <p:spPr>
          <a:xfrm>
            <a:off x="7483680" y="428292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Soluciones inmediatas: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2"/>
          <p:cNvSpPr/>
          <p:nvPr/>
        </p:nvSpPr>
        <p:spPr>
          <a:xfrm>
            <a:off x="7483680" y="452988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Ve a Uso de Almacenamiento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3"/>
          <p:cNvSpPr/>
          <p:nvPr/>
        </p:nvSpPr>
        <p:spPr>
          <a:xfrm>
            <a:off x="7483680" y="4748760"/>
            <a:ext cx="658512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61615c"/>
              </a:buClr>
              <a:buFont typeface="Calibri Light"/>
              <a:buAutoNum type="arabicPeriod" startAt="2"/>
            </a:pPr>
            <a:r>
              <a:rPr b="0" lang="en-US" sz="8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Identifica archivos grandes/antiguos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9"/>
          <a:stretch/>
        </p:blipFill>
        <p:spPr>
          <a:xfrm>
            <a:off x="1257408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6" name=""/>
          <p:cNvGrpSpPr/>
          <p:nvPr/>
        </p:nvGrpSpPr>
        <p:grpSpPr>
          <a:xfrm>
            <a:off x="449640" y="4967640"/>
            <a:ext cx="13731480" cy="2967840"/>
            <a:chOff x="449640" y="4967640"/>
            <a:chExt cx="13731480" cy="2967840"/>
          </a:xfrm>
        </p:grpSpPr>
        <p:sp>
          <p:nvSpPr>
            <p:cNvPr id="347" name="Text 25"/>
            <p:cNvSpPr/>
            <p:nvPr/>
          </p:nvSpPr>
          <p:spPr>
            <a:xfrm>
              <a:off x="561960" y="4967640"/>
              <a:ext cx="658476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 marL="343080" indent="-343080">
                <a:lnSpc>
                  <a:spcPts val="1400"/>
                </a:lnSpc>
                <a:buClr>
                  <a:srgbClr val="61615c"/>
                </a:buClr>
                <a:buFont typeface="Calibri Light"/>
                <a:buAutoNum type="arabicPeriod" startAt="3"/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Revisa filtros activos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Text 26"/>
            <p:cNvSpPr/>
            <p:nvPr/>
          </p:nvSpPr>
          <p:spPr>
            <a:xfrm>
              <a:off x="561960" y="5186520"/>
              <a:ext cx="658476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 marL="343080" indent="-343080">
                <a:lnSpc>
                  <a:spcPts val="1400"/>
                </a:lnSpc>
                <a:buClr>
                  <a:srgbClr val="61615c"/>
                </a:buClr>
                <a:buFont typeface="Calibri Light"/>
                <a:buAutoNum type="arabicPeriod" startAt="4"/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Confirma tus permisos de rol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Text 27"/>
            <p:cNvSpPr/>
            <p:nvPr/>
          </p:nvSpPr>
          <p:spPr>
            <a:xfrm>
              <a:off x="561960" y="5405400"/>
              <a:ext cx="658476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 marL="343080" indent="-343080">
                <a:lnSpc>
                  <a:spcPts val="1400"/>
                </a:lnSpc>
                <a:buClr>
                  <a:srgbClr val="61615c"/>
                </a:buClr>
                <a:buFont typeface="Calibri Light"/>
                <a:buAutoNum type="arabicPeriod" startAt="5"/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Consulta registro de auditoría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Text 34"/>
            <p:cNvSpPr/>
            <p:nvPr/>
          </p:nvSpPr>
          <p:spPr>
            <a:xfrm>
              <a:off x="7484040" y="4967640"/>
              <a:ext cx="658512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 marL="343080" indent="-343080">
                <a:lnSpc>
                  <a:spcPts val="1400"/>
                </a:lnSpc>
                <a:buClr>
                  <a:srgbClr val="61615c"/>
                </a:buClr>
                <a:buFont typeface="Calibri Light"/>
                <a:buAutoNum type="arabicPeriod" startAt="3"/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Elimina documentos innecesarios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Text 35"/>
            <p:cNvSpPr/>
            <p:nvPr/>
          </p:nvSpPr>
          <p:spPr>
            <a:xfrm>
              <a:off x="7484040" y="5186520"/>
              <a:ext cx="658512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 marL="343080" indent="-343080">
                <a:lnSpc>
                  <a:spcPts val="1400"/>
                </a:lnSpc>
                <a:buClr>
                  <a:srgbClr val="61615c"/>
                </a:buClr>
                <a:buFont typeface="Calibri Light"/>
                <a:buAutoNum type="arabicPeriod" startAt="4"/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Considera actualizar tu plan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Text 36"/>
            <p:cNvSpPr/>
            <p:nvPr/>
          </p:nvSpPr>
          <p:spPr>
            <a:xfrm>
              <a:off x="7484040" y="5433480"/>
              <a:ext cx="658512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Archivos borrados van a papelera (30 días)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Text 37"/>
            <p:cNvSpPr/>
            <p:nvPr/>
          </p:nvSpPr>
          <p:spPr>
            <a:xfrm>
              <a:off x="449640" y="5893560"/>
              <a:ext cx="2605320" cy="21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650"/>
                </a:lnSpc>
                <a:tabLst>
                  <a:tab algn="l" pos="0"/>
                </a:tabLst>
              </a:pPr>
              <a:r>
                <a:rPr b="0" lang="en-US" sz="1300" strike="noStrike" u="none">
                  <a:solidFill>
                    <a:srgbClr val="1d1d1b"/>
                  </a:solidFill>
                  <a:effectLst/>
                  <a:uFillTx/>
                  <a:latin typeface="Tomorrow Semi Bold"/>
                  <a:ea typeface="Tomorrow Semi Bold"/>
                </a:rPr>
                <a:t>Errores de Enlace de Descarga</a:t>
              </a:r>
              <a:endPara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Shape 38"/>
            <p:cNvSpPr/>
            <p:nvPr/>
          </p:nvSpPr>
          <p:spPr>
            <a:xfrm>
              <a:off x="449640" y="6272640"/>
              <a:ext cx="13731480" cy="1662840"/>
            </a:xfrm>
            <a:prstGeom prst="roundRect">
              <a:avLst>
                <a:gd name="adj" fmla="val 1013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Shape 39"/>
            <p:cNvSpPr/>
            <p:nvPr/>
          </p:nvSpPr>
          <p:spPr>
            <a:xfrm>
              <a:off x="457200" y="6280200"/>
              <a:ext cx="13716360" cy="32904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Text 40"/>
            <p:cNvSpPr/>
            <p:nvPr/>
          </p:nvSpPr>
          <p:spPr>
            <a:xfrm>
              <a:off x="569520" y="6355440"/>
              <a:ext cx="25146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1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Código Error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Text 41"/>
            <p:cNvSpPr/>
            <p:nvPr/>
          </p:nvSpPr>
          <p:spPr>
            <a:xfrm>
              <a:off x="3316680" y="6355440"/>
              <a:ext cx="52542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1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Causa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Text 42"/>
            <p:cNvSpPr/>
            <p:nvPr/>
          </p:nvSpPr>
          <p:spPr>
            <a:xfrm>
              <a:off x="8803440" y="6355440"/>
              <a:ext cx="52578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1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Solución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Shape 43"/>
            <p:cNvSpPr/>
            <p:nvPr/>
          </p:nvSpPr>
          <p:spPr>
            <a:xfrm>
              <a:off x="457200" y="6609960"/>
              <a:ext cx="13716360" cy="329040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Text 44"/>
            <p:cNvSpPr/>
            <p:nvPr/>
          </p:nvSpPr>
          <p:spPr>
            <a:xfrm>
              <a:off x="569520" y="6684840"/>
              <a:ext cx="25146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404 Not Found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Text 45"/>
            <p:cNvSpPr/>
            <p:nvPr/>
          </p:nvSpPr>
          <p:spPr>
            <a:xfrm>
              <a:off x="3316680" y="6684840"/>
              <a:ext cx="52542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Archivo eliminado del sistema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Text 46"/>
            <p:cNvSpPr/>
            <p:nvPr/>
          </p:nvSpPr>
          <p:spPr>
            <a:xfrm>
              <a:off x="8803440" y="6684840"/>
              <a:ext cx="52578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Verificar con administrador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Shape 47"/>
            <p:cNvSpPr/>
            <p:nvPr/>
          </p:nvSpPr>
          <p:spPr>
            <a:xfrm>
              <a:off x="457200" y="6939360"/>
              <a:ext cx="13716360" cy="32904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Text 48"/>
            <p:cNvSpPr/>
            <p:nvPr/>
          </p:nvSpPr>
          <p:spPr>
            <a:xfrm>
              <a:off x="569520" y="7014600"/>
              <a:ext cx="25146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403 Forbidden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Text 49"/>
            <p:cNvSpPr/>
            <p:nvPr/>
          </p:nvSpPr>
          <p:spPr>
            <a:xfrm>
              <a:off x="3316680" y="7014600"/>
              <a:ext cx="52542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Enlace expirado (más de 1 hora)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Text 50"/>
            <p:cNvSpPr/>
            <p:nvPr/>
          </p:nvSpPr>
          <p:spPr>
            <a:xfrm>
              <a:off x="8803440" y="7014600"/>
              <a:ext cx="52578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Generar nuevo enlace de acceso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Shape 51"/>
            <p:cNvSpPr/>
            <p:nvPr/>
          </p:nvSpPr>
          <p:spPr>
            <a:xfrm>
              <a:off x="457200" y="7269120"/>
              <a:ext cx="13716360" cy="329040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Text 52"/>
            <p:cNvSpPr/>
            <p:nvPr/>
          </p:nvSpPr>
          <p:spPr>
            <a:xfrm>
              <a:off x="569520" y="7344000"/>
              <a:ext cx="25146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500 Server Error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Text 53"/>
            <p:cNvSpPr/>
            <p:nvPr/>
          </p:nvSpPr>
          <p:spPr>
            <a:xfrm>
              <a:off x="3316680" y="7344000"/>
              <a:ext cx="52542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Problema temporal del servidor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Text 54"/>
            <p:cNvSpPr/>
            <p:nvPr/>
          </p:nvSpPr>
          <p:spPr>
            <a:xfrm>
              <a:off x="8803440" y="7344000"/>
              <a:ext cx="52578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Esperar 5 minutos y reintentar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Shape 55"/>
            <p:cNvSpPr/>
            <p:nvPr/>
          </p:nvSpPr>
          <p:spPr>
            <a:xfrm>
              <a:off x="457200" y="7598520"/>
              <a:ext cx="13716360" cy="32904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Text 56"/>
            <p:cNvSpPr/>
            <p:nvPr/>
          </p:nvSpPr>
          <p:spPr>
            <a:xfrm>
              <a:off x="569520" y="7673400"/>
              <a:ext cx="25146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Descarga congelada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Text 57"/>
            <p:cNvSpPr/>
            <p:nvPr/>
          </p:nvSpPr>
          <p:spPr>
            <a:xfrm>
              <a:off x="3316680" y="7673400"/>
              <a:ext cx="52542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Problemas de red o firewall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Text 58"/>
            <p:cNvSpPr/>
            <p:nvPr/>
          </p:nvSpPr>
          <p:spPr>
            <a:xfrm>
              <a:off x="8803440" y="7673400"/>
              <a:ext cx="5257800" cy="1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Autofit/>
            </a:bodyPr>
            <a:p>
              <a:pPr>
                <a:lnSpc>
                  <a:spcPts val="1400"/>
                </a:lnSpc>
                <a:tabLst>
                  <a:tab algn="l" pos="0"/>
                </a:tabLst>
              </a:pPr>
              <a:r>
                <a:rPr b="0" lang="en-US" sz="850" strike="noStrike" u="none">
                  <a:solidFill>
                    <a:srgbClr val="61615c"/>
                  </a:solidFill>
                  <a:effectLst/>
                  <a:uFillTx/>
                  <a:latin typeface="Tomorrow"/>
                  <a:ea typeface="Tomorrow"/>
                </a:rPr>
                <a:t>Verificar conexión a internet</a:t>
              </a:r>
              <a:endParaRPr b="0" lang="en-US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0"/>
          <p:cNvSpPr/>
          <p:nvPr/>
        </p:nvSpPr>
        <p:spPr>
          <a:xfrm>
            <a:off x="553680" y="404280"/>
            <a:ext cx="44683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Mejores Prácticas Profesionales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553680" y="102744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Optimiza tu gestión de archivos siguiendo estas recomendaciones que combinan eficiencia, seguridad y organización empresarial.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53680" y="1404360"/>
            <a:ext cx="415080" cy="41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2"/>
          <p:cNvSpPr/>
          <p:nvPr/>
        </p:nvSpPr>
        <p:spPr>
          <a:xfrm>
            <a:off x="1141920" y="1521360"/>
            <a:ext cx="195696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Nombres Descriptivos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3"/>
          <p:cNvSpPr/>
          <p:nvPr/>
        </p:nvSpPr>
        <p:spPr>
          <a:xfrm>
            <a:off x="1141920" y="1820520"/>
            <a:ext cx="6086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aa00"/>
                </a:solidFill>
                <a:effectLst/>
                <a:uFillTx/>
                <a:latin typeface="Tomorrow"/>
                <a:ea typeface="Tomorrow"/>
              </a:rPr>
              <a:t>✓ Contrato_Juan_Perez_2024.pdf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1141920" y="2125080"/>
            <a:ext cx="6086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f0000"/>
                </a:solidFill>
                <a:effectLst/>
                <a:uFillTx/>
                <a:latin typeface="Tomorrow"/>
                <a:ea typeface="Tomorrow"/>
              </a:rPr>
              <a:t>✗ documento1.pdf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1141920" y="2429640"/>
            <a:ext cx="6086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Incluye: tipo de documento, persona/proyecto, fecha. Evita caracteres especiales.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01600" y="1404360"/>
            <a:ext cx="415080" cy="41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6"/>
          <p:cNvSpPr/>
          <p:nvPr/>
        </p:nvSpPr>
        <p:spPr>
          <a:xfrm>
            <a:off x="7989840" y="1521360"/>
            <a:ext cx="233280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Organización por Carpetas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7"/>
          <p:cNvSpPr/>
          <p:nvPr/>
        </p:nvSpPr>
        <p:spPr>
          <a:xfrm>
            <a:off x="7989840" y="1820520"/>
            <a:ext cx="608652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Usa las carpetas nativas del sistema (Empleados, Contratos, Nómina). No mezcles tipos de documentos diferentes en una misma ubicación.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53680" y="2927880"/>
            <a:ext cx="415080" cy="41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 8"/>
          <p:cNvSpPr/>
          <p:nvPr/>
        </p:nvSpPr>
        <p:spPr>
          <a:xfrm>
            <a:off x="1141920" y="3044520"/>
            <a:ext cx="181188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Control de Versiones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9"/>
          <p:cNvSpPr/>
          <p:nvPr/>
        </p:nvSpPr>
        <p:spPr>
          <a:xfrm>
            <a:off x="1141920" y="3344040"/>
            <a:ext cx="6086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Al actualizar documentos, incluye versión y fecha en el nombre: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1141920" y="3648240"/>
            <a:ext cx="6086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Manual_Empleado_v2_2024-01-15.pdf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1"/>
          <p:cNvSpPr/>
          <p:nvPr/>
        </p:nvSpPr>
        <p:spPr>
          <a:xfrm>
            <a:off x="1141920" y="3952800"/>
            <a:ext cx="6086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Mantén historial claro de cambios.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401600" y="2927880"/>
            <a:ext cx="415080" cy="41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12"/>
          <p:cNvSpPr/>
          <p:nvPr/>
        </p:nvSpPr>
        <p:spPr>
          <a:xfrm>
            <a:off x="7989840" y="3044520"/>
            <a:ext cx="177948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Seguridad Proactiva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3"/>
          <p:cNvSpPr/>
          <p:nvPr/>
        </p:nvSpPr>
        <p:spPr>
          <a:xfrm>
            <a:off x="7989840" y="3344040"/>
            <a:ext cx="608652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No subas información confidencial a módulos públicos. Verifica siempre el origen de archivos externos antes de cargarlos.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53680" y="4451040"/>
            <a:ext cx="415080" cy="41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 14"/>
          <p:cNvSpPr/>
          <p:nvPr/>
        </p:nvSpPr>
        <p:spPr>
          <a:xfrm>
            <a:off x="1141920" y="4567680"/>
            <a:ext cx="216792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Optimización de Tamaño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5"/>
          <p:cNvSpPr/>
          <p:nvPr/>
        </p:nvSpPr>
        <p:spPr>
          <a:xfrm>
            <a:off x="1141920" y="4867200"/>
            <a:ext cx="60861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Comprime imágenes grandes antes de subir. Usa PDF en lugar de Word para documentos finales. Reduce el peso sin perder calidad.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401600" y="4451040"/>
            <a:ext cx="415080" cy="41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 16"/>
          <p:cNvSpPr/>
          <p:nvPr/>
        </p:nvSpPr>
        <p:spPr>
          <a:xfrm>
            <a:off x="7989840" y="4567680"/>
            <a:ext cx="225540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Compartir Correctamente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7"/>
          <p:cNvSpPr/>
          <p:nvPr/>
        </p:nvSpPr>
        <p:spPr>
          <a:xfrm>
            <a:off x="7989840" y="4867200"/>
            <a:ext cx="608652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Usa la función "Compartir Documento" interna. </a:t>
            </a:r>
            <a:r>
              <a:rPr b="1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No envíes enlaces temporales por email o WhatsApp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- expirarán en 1 hora.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8"/>
          <p:cNvSpPr/>
          <p:nvPr/>
        </p:nvSpPr>
        <p:spPr>
          <a:xfrm>
            <a:off x="553680" y="5517720"/>
            <a:ext cx="322560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Lista de Verificación Pre-Carga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553680" y="598500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omorrow"/>
                <a:ea typeface="Tomorrow"/>
              </a:rPr>
              <a:t>☑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Archivo en formato permitido (PDF, PNG, JPG, Excel, Word)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0"/>
          <p:cNvSpPr/>
          <p:nvPr/>
        </p:nvSpPr>
        <p:spPr>
          <a:xfrm>
            <a:off x="553680" y="625464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omorrow"/>
                <a:ea typeface="Tomorrow"/>
              </a:rPr>
              <a:t>☑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Tamaño menor al límite (5-25 MB según tipo)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1"/>
          <p:cNvSpPr/>
          <p:nvPr/>
        </p:nvSpPr>
        <p:spPr>
          <a:xfrm>
            <a:off x="553680" y="652464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omorrow"/>
                <a:ea typeface="Tomorrow"/>
              </a:rPr>
              <a:t>☑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Nombre sin caracteres especiales ni espacios problemáticos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2"/>
          <p:cNvSpPr/>
          <p:nvPr/>
        </p:nvSpPr>
        <p:spPr>
          <a:xfrm>
            <a:off x="553680" y="679428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omorrow"/>
                <a:ea typeface="Tomorrow"/>
              </a:rPr>
              <a:t>☑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Tengo permisos para subir en este módulo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3"/>
          <p:cNvSpPr/>
          <p:nvPr/>
        </p:nvSpPr>
        <p:spPr>
          <a:xfrm>
            <a:off x="553680" y="706392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omorrow"/>
                <a:ea typeface="Tomorrow"/>
              </a:rPr>
              <a:t>☑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Archivo verificado como no corrupto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4"/>
          <p:cNvSpPr/>
          <p:nvPr/>
        </p:nvSpPr>
        <p:spPr>
          <a:xfrm>
            <a:off x="553680" y="733392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omorrow"/>
                <a:ea typeface="Tomorrow"/>
              </a:rPr>
              <a:t>☑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Proviene de fuente confiable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5"/>
          <p:cNvSpPr/>
          <p:nvPr/>
        </p:nvSpPr>
        <p:spPr>
          <a:xfrm>
            <a:off x="553680" y="7603560"/>
            <a:ext cx="135226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omorrow"/>
                <a:ea typeface="Tomorrow"/>
              </a:rPr>
              <a:t>☑</a:t>
            </a: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Tengo espacio de almacenamiento disponible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" descr=""/>
          <p:cNvPicPr/>
          <p:nvPr/>
        </p:nvPicPr>
        <p:blipFill>
          <a:blip r:embed="rId13"/>
          <a:stretch/>
        </p:blipFill>
        <p:spPr>
          <a:xfrm>
            <a:off x="1257444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/>
          <p:nvPr/>
        </p:nvSpPr>
        <p:spPr>
          <a:xfrm>
            <a:off x="684360" y="470520"/>
            <a:ext cx="47185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0" lang="en-US" sz="26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Contacto y Soporte Técnico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"/>
          <p:cNvSpPr/>
          <p:nvPr/>
        </p:nvSpPr>
        <p:spPr>
          <a:xfrm>
            <a:off x="684360" y="1308600"/>
            <a:ext cx="7789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Nuestro equipo está disponible para ayudarte con cualquier problema relacionado con la gestión de archivos. No dudes en contactarnos.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2"/>
          <p:cNvSpPr/>
          <p:nvPr/>
        </p:nvSpPr>
        <p:spPr>
          <a:xfrm>
            <a:off x="684360" y="2048760"/>
            <a:ext cx="7789680" cy="1955160"/>
          </a:xfrm>
          <a:prstGeom prst="roundRect">
            <a:avLst>
              <a:gd name="adj" fmla="val 5612"/>
            </a:avLst>
          </a:prstGeom>
          <a:solidFill>
            <a:srgbClr val="fcfcfc"/>
          </a:solidFill>
          <a:ln w="2286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"/>
          <p:cNvSpPr/>
          <p:nvPr/>
        </p:nvSpPr>
        <p:spPr>
          <a:xfrm>
            <a:off x="661680" y="2048760"/>
            <a:ext cx="91080" cy="1955160"/>
          </a:xfrm>
          <a:prstGeom prst="roundRect">
            <a:avLst>
              <a:gd name="adj" fmla="val 28069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"/>
          <p:cNvSpPr/>
          <p:nvPr/>
        </p:nvSpPr>
        <p:spPr>
          <a:xfrm>
            <a:off x="946800" y="2242440"/>
            <a:ext cx="21384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Soporte General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946800" y="2680920"/>
            <a:ext cx="7333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Email:</a:t>
            </a:r>
            <a:r>
              <a:rPr b="0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jjohanospitia@gmail.com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"/>
          <p:cNvSpPr/>
          <p:nvPr/>
        </p:nvSpPr>
        <p:spPr>
          <a:xfrm>
            <a:off x="946800" y="3108600"/>
            <a:ext cx="7333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WhatsApp:</a:t>
            </a:r>
            <a:r>
              <a:rPr b="0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+57 3223595445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7"/>
          <p:cNvSpPr/>
          <p:nvPr/>
        </p:nvSpPr>
        <p:spPr>
          <a:xfrm>
            <a:off x="946800" y="3536280"/>
            <a:ext cx="7333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Chat en vivo:</a:t>
            </a:r>
            <a:r>
              <a:rPr b="0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Esquina inferior derecha de la plataforma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8"/>
          <p:cNvSpPr/>
          <p:nvPr/>
        </p:nvSpPr>
        <p:spPr>
          <a:xfrm>
            <a:off x="684360" y="4174920"/>
            <a:ext cx="7789680" cy="1801080"/>
          </a:xfrm>
          <a:prstGeom prst="roundRect">
            <a:avLst>
              <a:gd name="adj" fmla="val 6091"/>
            </a:avLst>
          </a:prstGeom>
          <a:solidFill>
            <a:srgbClr val="fcfcfc"/>
          </a:solidFill>
          <a:ln w="2286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9"/>
          <p:cNvSpPr/>
          <p:nvPr/>
        </p:nvSpPr>
        <p:spPr>
          <a:xfrm>
            <a:off x="661680" y="4174920"/>
            <a:ext cx="91080" cy="1801080"/>
          </a:xfrm>
          <a:prstGeom prst="roundRect">
            <a:avLst>
              <a:gd name="adj" fmla="val 28069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0"/>
          <p:cNvSpPr/>
          <p:nvPr/>
        </p:nvSpPr>
        <p:spPr>
          <a:xfrm>
            <a:off x="946800" y="4368960"/>
            <a:ext cx="26740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Problemas de Seguridad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1"/>
          <p:cNvSpPr/>
          <p:nvPr/>
        </p:nvSpPr>
        <p:spPr>
          <a:xfrm>
            <a:off x="946800" y="4807440"/>
            <a:ext cx="7333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Email urgente:</a:t>
            </a:r>
            <a:r>
              <a:rPr b="0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 jjohanospitia@gmail.com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2"/>
          <p:cNvSpPr/>
          <p:nvPr/>
        </p:nvSpPr>
        <p:spPr>
          <a:xfrm>
            <a:off x="946800" y="5235120"/>
            <a:ext cx="7333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Incluye: nombre del archivo, tamaño, mensaje de error exacto y captura de pantalla si es posible.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3"/>
          <p:cNvSpPr/>
          <p:nvPr/>
        </p:nvSpPr>
        <p:spPr>
          <a:xfrm>
            <a:off x="941040" y="6168960"/>
            <a:ext cx="7533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"Un buen manejo de archivos no solo organiza tu trabajo, sino que protege la información de tu empresa."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4"/>
          <p:cNvSpPr/>
          <p:nvPr/>
        </p:nvSpPr>
        <p:spPr>
          <a:xfrm>
            <a:off x="684360" y="6168960"/>
            <a:ext cx="22680" cy="547200"/>
          </a:xfrm>
          <a:prstGeom prst="rect">
            <a:avLst/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5"/>
          <p:cNvSpPr/>
          <p:nvPr/>
        </p:nvSpPr>
        <p:spPr>
          <a:xfrm>
            <a:off x="684360" y="6908760"/>
            <a:ext cx="7789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Guía versión 1.0 - Última actualización: Enero 2026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6"/>
          <p:cNvSpPr/>
          <p:nvPr/>
        </p:nvSpPr>
        <p:spPr>
          <a:xfrm>
            <a:off x="684360" y="7336440"/>
            <a:ext cx="7789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Documento complementario al Manual de Bienvenida para Administradores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5" name="Image 0" descr="preencoded.png"/>
          <p:cNvPicPr/>
          <p:nvPr/>
        </p:nvPicPr>
        <p:blipFill>
          <a:blip r:embed="rId1"/>
          <a:stretch/>
        </p:blipFill>
        <p:spPr>
          <a:xfrm>
            <a:off x="8899560" y="1347120"/>
            <a:ext cx="5053680" cy="505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6" name="" descr=""/>
          <p:cNvPicPr/>
          <p:nvPr/>
        </p:nvPicPr>
        <p:blipFill>
          <a:blip r:embed="rId2"/>
          <a:stretch/>
        </p:blipFill>
        <p:spPr>
          <a:xfrm>
            <a:off x="12574440" y="7772400"/>
            <a:ext cx="2057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LibreOffice/25.8.3.2$Windows_X86_64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2026-01-01T18:19:37Z</dcterms:created>
  <dc:creator/>
  <dc:description/>
  <dc:language>en-US</dc:language>
  <cp:lastModifiedBy/>
  <dcterms:modified xsi:type="dcterms:W3CDTF">2026-01-01T13:25:18Z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